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3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lang="pt-BR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mover o slide</a:t>
            </a:r>
            <a:endParaRPr lang="pt-BR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&lt;cabeçalho&gt;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dt" idx="2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&lt;data/hora&gt;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ftr" idx="3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&lt;rodapé&gt;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6"/>
          <p:cNvSpPr>
            <a:spLocks noGrp="1"/>
          </p:cNvSpPr>
          <p:nvPr>
            <p:ph type="sldNum" idx="4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404EC68-EA20-4BAB-92FD-928B44F153AB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Abrir contextualizando que a solução foi pensada a partir do problema de negócio, não da tecnologia. A apresentação está organizada para responder os pontos do PDF do case: contexto, classificação, fluxo, monitoramento, gargalos, arquitetura de software, estrutura de código, linguagens/bancos, IA e critérios técnicos.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CCD8832-2F15-4CED-9C5C-16FDB5FC1B6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Falar que a solução começou pelo entendimento das capacidades de negócio. O case pede canais digital/físico, padronização, interpretação, classificação automática, portal interno, histórico via datamesh, anexos, legado, SLA e rastreabilidade.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CB0D33C6-895F-4585-9B20-7DFFE33D75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Esse slide deve ser usado para neutralizar a crítica de overengineering. Reforçar que o diagrama mostra capacidades-alvo e que uma implantação real poderia começar menor.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CE66D72-8A9E-41D5-8C90-97D21DD0CAC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Apresentar a delimitação como decisão de senioridade. O case pede entrada, classificação, visibilidade, integração e SLA; tratativa completa é evolução.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2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545CFB0-CADF-4819-B883-644CFAC988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Explicar o fluxo antes de entrar no diagrama AWS: canais geram solicitações; entrada prepara; OCR/anexos ocorrem assíncronos; Gestão cria reclamação oficial, classifica, calcula SLA e alimenta portal/integrações.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5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8B26F27E-D10A-44E2-A554-59C0CFD98F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Falar enquanto alterna para o diagrama: canais passam por API Gateway/BFFs; Serviço de Entrada controla DynamoDB/S3/OCR; SQS padronizadas separa entrada da Gestão; Gestão cria reclamação oficial no Aurora; portal, SLA, integrações e analytics ficam conectados ao domínio principal.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90D1898B-A8D4-4F36-817F-978ACD8791C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Responder à pergunta do PDF: como evitar gargalos? Separar síncrono do assíncrono, usar S3 para arquivos, SQS como buffer, escala de consumers por backlog, evitar analytics no OLTP e cachear leituras auxiliares.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ECFBAE7-67F5-4F75-8E4E-865D1B07E7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Responder à pergunta do PDF sobre monitorar e acionar alertas. Reforçar que em arquitetura assíncrona é fundamental monitorar filas e DLQs, não só APIs.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09637047-AAF7-4A70-9F0C-0493AD4163F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Explicar o classificador por regras ponderadas. O case pede função por palavras-chave, mas o desenho melhora isso com pesos, sinônimos, índice invertido, regras compostas, confiança e justificativa.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7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D00C531-6DCA-424E-80B7-36F0877413C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Responder ao item do PDF sobre arquitetura de software. Defender Clean Architecture + DDD tático + domínio rico porque a Gestão concentra regras de classificação, SLA, histórico e criação oficial.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598FD8F9-2910-4922-AB77-7A4F4D168F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Responder ao item do PDF que pede um componente e estrutura de código. Mostrar rapidamente no Cursor, sem live coding, principalmente domínio e classificação.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4CF63D1-0203-49D7-B6EC-26FB9B3298F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Responder ao item do PDF: quais linguagens e bancos recomenda e por quê. Enfatizar DynamoDB na entrada e Aurora no domínio principal.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28FC3906-9993-4E43-9A28-CFFEF422A08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Responder ao item do PDF sobre IA. Mostrar duas dimensões: IA no produto e IA no processo de construção da solução, como foi feito na preparação do case.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B6F09897-7718-49AC-B511-DDD39BD0686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19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Mostrar que o case não é só arquitetura. Há capacidade colaborativa: documentação, histórias, DOR/DOD, testes, planejamento e ambiente local para demonstração.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FAF730A5-E769-4CB0-9208-EB2A703269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Encerrar reforçando: comecei pelo negócio, delimitei o MVP, assumi arquitetura-alvo evolutiva e pensei em código, operação, testes e colaboração.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6BFCF835-5299-4243-9449-6C3C69E206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320040" y="6565320"/>
            <a:ext cx="11567160" cy="360"/>
          </a:xfrm>
          <a:prstGeom prst="line">
            <a:avLst/>
          </a:prstGeom>
          <a:ln w="7620">
            <a:solidFill>
              <a:srgbClr val="d6dd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Text 1"/>
          <p:cNvSpPr/>
          <p:nvPr/>
        </p:nvSpPr>
        <p:spPr>
          <a:xfrm>
            <a:off x="502920" y="6602040"/>
            <a:ext cx="3839400" cy="16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7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Gestão de Reclamações • Case Técnico</a:t>
            </a:r>
            <a:endParaRPr lang="pt-BR" sz="6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sldNum" idx="1"/>
          </p:nvPr>
        </p:nvSpPr>
        <p:spPr>
          <a:xfrm>
            <a:off x="11292840" y="6592680"/>
            <a:ext cx="798840" cy="298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tabLst>
                <a:tab algn="l" pos="0"/>
              </a:tabLst>
              <a:defRPr lang="en-US" sz="7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defRPr>
            </a:lvl1pPr>
          </a:lstStyle>
          <a:p>
            <a:pPr indent="0" defTabSz="914400">
              <a:lnSpc>
                <a:spcPct val="100000"/>
              </a:lnSpc>
              <a:buNone/>
              <a:tabLst>
                <a:tab algn="l" pos="0"/>
              </a:tabLst>
            </a:pPr>
            <a:fld id="{0B3FFCBC-2AF3-4F8A-B4EA-5F2D6F7C9CC4}" type="slidenum">
              <a:rPr lang="en-US" sz="700" b="0" u="none" strike="noStrik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&lt;número&gt;</a:t>
            </a:fld>
            <a:endParaRPr lang="pt-BR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1360" cy="1144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1360" cy="3976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lang="pt-BR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lnSpc>
                <a:spcPct val="10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lnSpc>
                <a:spcPct val="10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"/>
          <p:cNvSpPr/>
          <p:nvPr/>
        </p:nvSpPr>
        <p:spPr>
          <a:xfrm>
            <a:off x="0" y="0"/>
            <a:ext cx="12190680" cy="68569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6" name="Oval 2"/>
          <p:cNvSpPr/>
          <p:nvPr/>
        </p:nvSpPr>
        <p:spPr>
          <a:xfrm>
            <a:off x="7589520" y="-548640"/>
            <a:ext cx="2742120" cy="2742120"/>
          </a:xfrm>
          <a:prstGeom prst="ellipse">
            <a:avLst/>
          </a:prstGeom>
          <a:solidFill>
            <a:srgbClr val="ffbc72"/>
          </a:solidFill>
          <a:ln>
            <a:solidFill>
              <a:srgbClr val="c65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7" name="Oval 3"/>
          <p:cNvSpPr/>
          <p:nvPr/>
        </p:nvSpPr>
        <p:spPr>
          <a:xfrm>
            <a:off x="9052560" y="4206240"/>
            <a:ext cx="1736280" cy="1736280"/>
          </a:xfrm>
          <a:prstGeom prst="ellipse">
            <a:avLst/>
          </a:prstGeom>
          <a:solidFill>
            <a:srgbClr val="ffb360"/>
          </a:solidFill>
          <a:ln>
            <a:solidFill>
              <a:srgbClr val="c65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8" name="Oval 4"/>
          <p:cNvSpPr/>
          <p:nvPr/>
        </p:nvSpPr>
        <p:spPr>
          <a:xfrm>
            <a:off x="-777240" y="4754880"/>
            <a:ext cx="1461960" cy="1461960"/>
          </a:xfrm>
          <a:prstGeom prst="ellipse">
            <a:avLst/>
          </a:prstGeom>
          <a:solidFill>
            <a:srgbClr val="c25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9" name="TextBox 5"/>
          <p:cNvSpPr/>
          <p:nvPr/>
        </p:nvSpPr>
        <p:spPr>
          <a:xfrm>
            <a:off x="640080" y="640080"/>
            <a:ext cx="36565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CASE TÉCNICO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Box 6"/>
          <p:cNvSpPr/>
          <p:nvPr/>
        </p:nvSpPr>
        <p:spPr>
          <a:xfrm>
            <a:off x="640080" y="1234440"/>
            <a:ext cx="6399720" cy="1279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4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Sistema de Gestão de Reclamações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Box 7"/>
          <p:cNvSpPr/>
          <p:nvPr/>
        </p:nvSpPr>
        <p:spPr>
          <a:xfrm>
            <a:off x="602280" y="4320000"/>
            <a:ext cx="74970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7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Case técnico — arquitetura, classificação automática, observabilidade e planejamento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Rectangle 10"/>
          <p:cNvSpPr/>
          <p:nvPr/>
        </p:nvSpPr>
        <p:spPr>
          <a:xfrm>
            <a:off x="658440" y="4133160"/>
            <a:ext cx="3839400" cy="26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-17640" bIns="-1764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3" name="TextBox 12"/>
          <p:cNvSpPr/>
          <p:nvPr/>
        </p:nvSpPr>
        <p:spPr>
          <a:xfrm>
            <a:off x="10149840" y="5989320"/>
            <a:ext cx="273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pt-BR" sz="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1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/>
          <p:cNvSpPr/>
          <p:nvPr/>
        </p:nvSpPr>
        <p:spPr>
          <a:xfrm>
            <a:off x="0" y="0"/>
            <a:ext cx="12190680" cy="3463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" name="TextBox 2"/>
          <p:cNvSpPr/>
          <p:nvPr/>
        </p:nvSpPr>
        <p:spPr>
          <a:xfrm>
            <a:off x="502920" y="502920"/>
            <a:ext cx="2284920" cy="25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200" b="1" u="none" strike="noStrike">
                <a:solidFill>
                  <a:srgbClr val="ec7000"/>
                </a:solidFill>
                <a:effectLst/>
                <a:uFillTx/>
                <a:latin typeface="Arial"/>
              </a:rPr>
              <a:t>ROTEIRO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Box 3"/>
          <p:cNvSpPr/>
          <p:nvPr/>
        </p:nvSpPr>
        <p:spPr>
          <a:xfrm>
            <a:off x="502920" y="758880"/>
            <a:ext cx="10057320" cy="529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3000" b="1" u="none" strike="noStrike">
                <a:solidFill>
                  <a:srgbClr val="14213d"/>
                </a:solidFill>
                <a:effectLst/>
                <a:uFillTx/>
                <a:latin typeface="Arial"/>
              </a:rPr>
              <a:t>Índice da apresentação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TextBox 4"/>
          <p:cNvSpPr/>
          <p:nvPr/>
        </p:nvSpPr>
        <p:spPr>
          <a:xfrm>
            <a:off x="521280" y="1298520"/>
            <a:ext cx="1005732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200" b="0" u="none" strike="noStrike">
                <a:solidFill>
                  <a:srgbClr val="5f5f5f"/>
                </a:solidFill>
                <a:effectLst/>
                <a:uFillTx/>
                <a:latin typeface="Arial"/>
              </a:rPr>
              <a:t>Sequência para responder aos pontos do case: negócio, system design, classificação, arquitetura de software, operação e colaboração.</a:t>
            </a:r>
            <a:endParaRPr lang="pt-B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Rounded Rectangle 5"/>
          <p:cNvSpPr/>
          <p:nvPr/>
        </p:nvSpPr>
        <p:spPr>
          <a:xfrm>
            <a:off x="594360" y="1828800"/>
            <a:ext cx="4799520" cy="65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5c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9" name="Oval 6"/>
          <p:cNvSpPr/>
          <p:nvPr/>
        </p:nvSpPr>
        <p:spPr>
          <a:xfrm>
            <a:off x="740520" y="1965960"/>
            <a:ext cx="383040" cy="38304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8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1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TextBox 7"/>
          <p:cNvSpPr/>
          <p:nvPr/>
        </p:nvSpPr>
        <p:spPr>
          <a:xfrm>
            <a:off x="1252800" y="1920240"/>
            <a:ext cx="395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4213d"/>
                </a:solidFill>
                <a:effectLst/>
                <a:uFillTx/>
                <a:latin typeface="Arial"/>
              </a:rPr>
              <a:t>Entendimento do problema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Box 8"/>
          <p:cNvSpPr/>
          <p:nvPr/>
        </p:nvSpPr>
        <p:spPr>
          <a:xfrm>
            <a:off x="1252800" y="2157840"/>
            <a:ext cx="395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20" b="0" u="none" strike="noStrike">
                <a:solidFill>
                  <a:srgbClr val="5f5f5f"/>
                </a:solidFill>
                <a:effectLst/>
                <a:uFillTx/>
                <a:latin typeface="Arial"/>
              </a:rPr>
              <a:t>Canais, capacidades obrigatórias e contexto operacional</a:t>
            </a:r>
            <a:endParaRPr lang="pt-BR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Rounded Rectangle 9"/>
          <p:cNvSpPr/>
          <p:nvPr/>
        </p:nvSpPr>
        <p:spPr>
          <a:xfrm>
            <a:off x="594360" y="2651760"/>
            <a:ext cx="4799520" cy="65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5c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3" name="Oval 10"/>
          <p:cNvSpPr/>
          <p:nvPr/>
        </p:nvSpPr>
        <p:spPr>
          <a:xfrm>
            <a:off x="740520" y="2788920"/>
            <a:ext cx="383040" cy="38304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8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2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Box 11"/>
          <p:cNvSpPr/>
          <p:nvPr/>
        </p:nvSpPr>
        <p:spPr>
          <a:xfrm>
            <a:off x="1252800" y="2743200"/>
            <a:ext cx="395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4213d"/>
                </a:solidFill>
                <a:effectLst/>
                <a:uFillTx/>
                <a:latin typeface="Arial"/>
              </a:rPr>
              <a:t>Premissas e escopo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Box 12"/>
          <p:cNvSpPr/>
          <p:nvPr/>
        </p:nvSpPr>
        <p:spPr>
          <a:xfrm>
            <a:off x="1252800" y="2980800"/>
            <a:ext cx="395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20" b="0" u="none" strike="noStrike">
                <a:solidFill>
                  <a:srgbClr val="5f5f5f"/>
                </a:solidFill>
                <a:effectLst/>
                <a:uFillTx/>
                <a:latin typeface="Arial"/>
              </a:rPr>
              <a:t>MVP, arquitetura-alvo evolutiva e decisões de consistência</a:t>
            </a:r>
            <a:endParaRPr lang="pt-BR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Rounded Rectangle 13"/>
          <p:cNvSpPr/>
          <p:nvPr/>
        </p:nvSpPr>
        <p:spPr>
          <a:xfrm>
            <a:off x="594360" y="3474720"/>
            <a:ext cx="4799520" cy="65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5c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7" name="Oval 14"/>
          <p:cNvSpPr/>
          <p:nvPr/>
        </p:nvSpPr>
        <p:spPr>
          <a:xfrm>
            <a:off x="740520" y="3611880"/>
            <a:ext cx="383040" cy="38304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8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3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Box 15"/>
          <p:cNvSpPr/>
          <p:nvPr/>
        </p:nvSpPr>
        <p:spPr>
          <a:xfrm>
            <a:off x="1252800" y="3566160"/>
            <a:ext cx="395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4213d"/>
                </a:solidFill>
                <a:effectLst/>
                <a:uFillTx/>
                <a:latin typeface="Arial"/>
              </a:rPr>
              <a:t>Fluxo e arquitetura AWS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Box 16"/>
          <p:cNvSpPr/>
          <p:nvPr/>
        </p:nvSpPr>
        <p:spPr>
          <a:xfrm>
            <a:off x="1252800" y="3803760"/>
            <a:ext cx="395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20" b="0" u="none" strike="noStrike">
                <a:solidFill>
                  <a:srgbClr val="5f5f5f"/>
                </a:solidFill>
                <a:effectLst/>
                <a:uFillTx/>
                <a:latin typeface="Arial"/>
              </a:rPr>
              <a:t>Entrada, OCR, SQS, Gestão, SLA, integrações e analytics</a:t>
            </a:r>
            <a:endParaRPr lang="pt-BR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Rounded Rectangle 17"/>
          <p:cNvSpPr/>
          <p:nvPr/>
        </p:nvSpPr>
        <p:spPr>
          <a:xfrm>
            <a:off x="594360" y="4297680"/>
            <a:ext cx="4799520" cy="65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5c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1" name="Oval 18"/>
          <p:cNvSpPr/>
          <p:nvPr/>
        </p:nvSpPr>
        <p:spPr>
          <a:xfrm>
            <a:off x="740520" y="4434840"/>
            <a:ext cx="383040" cy="38304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8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4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TextBox 19"/>
          <p:cNvSpPr/>
          <p:nvPr/>
        </p:nvSpPr>
        <p:spPr>
          <a:xfrm>
            <a:off x="1252800" y="4389120"/>
            <a:ext cx="395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4213d"/>
                </a:solidFill>
                <a:effectLst/>
                <a:uFillTx/>
                <a:latin typeface="Arial"/>
              </a:rPr>
              <a:t>Gargalos e observabilidade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Box 20"/>
          <p:cNvSpPr/>
          <p:nvPr/>
        </p:nvSpPr>
        <p:spPr>
          <a:xfrm>
            <a:off x="1252800" y="4626720"/>
            <a:ext cx="395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20" b="0" u="none" strike="noStrike">
                <a:solidFill>
                  <a:srgbClr val="5f5f5f"/>
                </a:solidFill>
                <a:effectLst/>
                <a:uFillTx/>
                <a:latin typeface="Arial"/>
              </a:rPr>
              <a:t>Como escalar, monitorar, alertar, tratar DLQ e redrive</a:t>
            </a:r>
            <a:endParaRPr lang="pt-BR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Rounded Rectangle 21"/>
          <p:cNvSpPr/>
          <p:nvPr/>
        </p:nvSpPr>
        <p:spPr>
          <a:xfrm>
            <a:off x="6080760" y="1828800"/>
            <a:ext cx="4799520" cy="65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5c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5" name="Oval 22"/>
          <p:cNvSpPr/>
          <p:nvPr/>
        </p:nvSpPr>
        <p:spPr>
          <a:xfrm>
            <a:off x="6226920" y="1965960"/>
            <a:ext cx="383040" cy="38304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8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5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Box 23"/>
          <p:cNvSpPr/>
          <p:nvPr/>
        </p:nvSpPr>
        <p:spPr>
          <a:xfrm>
            <a:off x="6739200" y="1920240"/>
            <a:ext cx="395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4213d"/>
                </a:solidFill>
                <a:effectLst/>
                <a:uFillTx/>
                <a:latin typeface="Arial"/>
              </a:rPr>
              <a:t>Classificação automática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Box 24"/>
          <p:cNvSpPr/>
          <p:nvPr/>
        </p:nvSpPr>
        <p:spPr>
          <a:xfrm>
            <a:off x="6739200" y="2157840"/>
            <a:ext cx="395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20" b="0" u="none" strike="noStrike">
                <a:solidFill>
                  <a:srgbClr val="5f5f5f"/>
                </a:solidFill>
                <a:effectLst/>
                <a:uFillTx/>
                <a:latin typeface="Arial"/>
              </a:rPr>
              <a:t>Regras ponderadas, sinônimos, índice invertido e ambiguidade</a:t>
            </a:r>
            <a:endParaRPr lang="pt-BR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Rounded Rectangle 25"/>
          <p:cNvSpPr/>
          <p:nvPr/>
        </p:nvSpPr>
        <p:spPr>
          <a:xfrm>
            <a:off x="6080760" y="2651760"/>
            <a:ext cx="4799520" cy="65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5c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9" name="Oval 26"/>
          <p:cNvSpPr/>
          <p:nvPr/>
        </p:nvSpPr>
        <p:spPr>
          <a:xfrm>
            <a:off x="6226920" y="2788920"/>
            <a:ext cx="383040" cy="38304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8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6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Box 27"/>
          <p:cNvSpPr/>
          <p:nvPr/>
        </p:nvSpPr>
        <p:spPr>
          <a:xfrm>
            <a:off x="6739200" y="2743200"/>
            <a:ext cx="395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4213d"/>
                </a:solidFill>
                <a:effectLst/>
                <a:uFillTx/>
                <a:latin typeface="Arial"/>
              </a:rPr>
              <a:t>Arquitetura de software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Box 28"/>
          <p:cNvSpPr/>
          <p:nvPr/>
        </p:nvSpPr>
        <p:spPr>
          <a:xfrm>
            <a:off x="6739200" y="2980800"/>
            <a:ext cx="395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20" b="0" u="none" strike="noStrike">
                <a:solidFill>
                  <a:srgbClr val="5f5f5f"/>
                </a:solidFill>
                <a:effectLst/>
                <a:uFillTx/>
                <a:latin typeface="Arial"/>
              </a:rPr>
              <a:t>DDD, Clean Architecture, domínio rico e estrutura de código</a:t>
            </a:r>
            <a:endParaRPr lang="pt-BR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Rounded Rectangle 29"/>
          <p:cNvSpPr/>
          <p:nvPr/>
        </p:nvSpPr>
        <p:spPr>
          <a:xfrm>
            <a:off x="6080760" y="3474720"/>
            <a:ext cx="4799520" cy="65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5c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3" name="Oval 30"/>
          <p:cNvSpPr/>
          <p:nvPr/>
        </p:nvSpPr>
        <p:spPr>
          <a:xfrm>
            <a:off x="6226920" y="3611880"/>
            <a:ext cx="383040" cy="38304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8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7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" name="TextBox 31"/>
          <p:cNvSpPr/>
          <p:nvPr/>
        </p:nvSpPr>
        <p:spPr>
          <a:xfrm>
            <a:off x="6739200" y="3566160"/>
            <a:ext cx="395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4213d"/>
                </a:solidFill>
                <a:effectLst/>
                <a:uFillTx/>
                <a:latin typeface="Arial"/>
              </a:rPr>
              <a:t>Linguagens, bancos e IA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Box 32"/>
          <p:cNvSpPr/>
          <p:nvPr/>
        </p:nvSpPr>
        <p:spPr>
          <a:xfrm>
            <a:off x="6739200" y="3803760"/>
            <a:ext cx="395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20" b="0" u="none" strike="noStrike">
                <a:solidFill>
                  <a:srgbClr val="5f5f5f"/>
                </a:solidFill>
                <a:effectLst/>
                <a:uFillTx/>
                <a:latin typeface="Arial"/>
              </a:rPr>
              <a:t>Escolhas técnicas e como IA acelera produto e engenharia</a:t>
            </a:r>
            <a:endParaRPr lang="pt-BR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Rounded Rectangle 33"/>
          <p:cNvSpPr/>
          <p:nvPr/>
        </p:nvSpPr>
        <p:spPr>
          <a:xfrm>
            <a:off x="6080760" y="4297680"/>
            <a:ext cx="4799520" cy="6573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f5c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57" name="Oval 34"/>
          <p:cNvSpPr/>
          <p:nvPr/>
        </p:nvSpPr>
        <p:spPr>
          <a:xfrm>
            <a:off x="6226920" y="4434840"/>
            <a:ext cx="383040" cy="383040"/>
          </a:xfrm>
          <a:prstGeom prst="ellipse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850" b="1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8</a:t>
            </a:r>
            <a:endParaRPr lang="pt-BR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8" name="TextBox 35"/>
          <p:cNvSpPr/>
          <p:nvPr/>
        </p:nvSpPr>
        <p:spPr>
          <a:xfrm>
            <a:off x="6739200" y="4389120"/>
            <a:ext cx="395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14213d"/>
                </a:solidFill>
                <a:effectLst/>
                <a:uFillTx/>
                <a:latin typeface="Arial"/>
              </a:rPr>
              <a:t>Qualidade, trade-offs e fechamento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Box 36"/>
          <p:cNvSpPr/>
          <p:nvPr/>
        </p:nvSpPr>
        <p:spPr>
          <a:xfrm>
            <a:off x="6739200" y="4626720"/>
            <a:ext cx="3958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920" b="0" u="none" strike="noStrike">
                <a:solidFill>
                  <a:srgbClr val="5f5f5f"/>
                </a:solidFill>
                <a:effectLst/>
                <a:uFillTx/>
                <a:latin typeface="Arial"/>
              </a:rPr>
              <a:t>Testes, documentação, colaboração, decisões conscientes e evolução</a:t>
            </a:r>
            <a:endParaRPr lang="pt-BR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Rectangle 37"/>
          <p:cNvSpPr/>
          <p:nvPr/>
        </p:nvSpPr>
        <p:spPr>
          <a:xfrm>
            <a:off x="0" y="6565320"/>
            <a:ext cx="12190680" cy="2916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61" name="TextBox 38"/>
          <p:cNvSpPr/>
          <p:nvPr/>
        </p:nvSpPr>
        <p:spPr>
          <a:xfrm>
            <a:off x="502920" y="6611040"/>
            <a:ext cx="731412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Gestão de Reclamações • Case Técnico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39"/>
          <p:cNvSpPr/>
          <p:nvPr/>
        </p:nvSpPr>
        <p:spPr>
          <a:xfrm>
            <a:off x="11505960" y="6611040"/>
            <a:ext cx="2732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914400">
              <a:lnSpc>
                <a:spcPct val="100000"/>
              </a:lnSpc>
            </a:pPr>
            <a:r>
              <a:rPr lang="pt-BR" sz="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2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Shape 0"/>
          <p:cNvSpPr/>
          <p:nvPr/>
        </p:nvSpPr>
        <p:spPr>
          <a:xfrm>
            <a:off x="502920" y="201240"/>
            <a:ext cx="410400" cy="291600"/>
          </a:xfrm>
          <a:prstGeom prst="roundRect">
            <a:avLst>
              <a:gd name="adj" fmla="val 21875"/>
            </a:avLst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4" name="Text 1"/>
          <p:cNvSpPr/>
          <p:nvPr/>
        </p:nvSpPr>
        <p:spPr>
          <a:xfrm>
            <a:off x="502920" y="246960"/>
            <a:ext cx="4104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2"/>
          <p:cNvSpPr/>
          <p:nvPr/>
        </p:nvSpPr>
        <p:spPr>
          <a:xfrm>
            <a:off x="987480" y="228600"/>
            <a:ext cx="10240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Entendimento do problema de negócio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3"/>
          <p:cNvSpPr/>
          <p:nvPr/>
        </p:nvSpPr>
        <p:spPr>
          <a:xfrm>
            <a:off x="530280" y="640080"/>
            <a:ext cx="10971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3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O case pede uma solução que integre canais, normalize dados e torne a reclamação operacionalmente visível.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4"/>
          <p:cNvSpPr/>
          <p:nvPr/>
        </p:nvSpPr>
        <p:spPr>
          <a:xfrm>
            <a:off x="685800" y="1097280"/>
            <a:ext cx="2833560" cy="4250880"/>
          </a:xfrm>
          <a:prstGeom prst="roundRect">
            <a:avLst>
              <a:gd name="adj" fmla="val 2903"/>
            </a:avLst>
          </a:prstGeom>
          <a:solidFill>
            <a:srgbClr val="ffffff"/>
          </a:solidFill>
          <a:ln w="13970">
            <a:solidFill>
              <a:srgbClr val="ec70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8" name="Shape 5"/>
          <p:cNvSpPr/>
          <p:nvPr/>
        </p:nvSpPr>
        <p:spPr>
          <a:xfrm>
            <a:off x="685800" y="1097280"/>
            <a:ext cx="108720" cy="4250880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69" name="Text 6"/>
          <p:cNvSpPr/>
          <p:nvPr/>
        </p:nvSpPr>
        <p:spPr>
          <a:xfrm>
            <a:off x="914400" y="1252800"/>
            <a:ext cx="25135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Canais de entrada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7"/>
          <p:cNvSpPr/>
          <p:nvPr/>
        </p:nvSpPr>
        <p:spPr>
          <a:xfrm>
            <a:off x="914400" y="1536120"/>
            <a:ext cx="2513520" cy="372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Canal digital externo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Canal físico com documento recepcionado e digitalizado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Canais futuros devem ser absorvidos sem contaminar o domínio principal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8"/>
          <p:cNvSpPr/>
          <p:nvPr/>
        </p:nvSpPr>
        <p:spPr>
          <a:xfrm>
            <a:off x="3886200" y="1097280"/>
            <a:ext cx="3153600" cy="425088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3970">
            <a:solidFill>
              <a:srgbClr val="ec70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2" name="Shape 9"/>
          <p:cNvSpPr/>
          <p:nvPr/>
        </p:nvSpPr>
        <p:spPr>
          <a:xfrm>
            <a:off x="3886200" y="1097280"/>
            <a:ext cx="108720" cy="4250880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3" name="Text 10"/>
          <p:cNvSpPr/>
          <p:nvPr/>
        </p:nvSpPr>
        <p:spPr>
          <a:xfrm>
            <a:off x="4114800" y="1252800"/>
            <a:ext cx="28335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Capacidades obrigatórias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1"/>
          <p:cNvSpPr/>
          <p:nvPr/>
        </p:nvSpPr>
        <p:spPr>
          <a:xfrm>
            <a:off x="4114800" y="1536120"/>
            <a:ext cx="2833560" cy="372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Recepcionar e padronizar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Interpretar dados principais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Classificar automaticamente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Exibir no portal interno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Manter anexos/documentos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Enviar para legado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Shape 12"/>
          <p:cNvSpPr/>
          <p:nvPr/>
        </p:nvSpPr>
        <p:spPr>
          <a:xfrm>
            <a:off x="7406640" y="1097280"/>
            <a:ext cx="3885120" cy="4250880"/>
          </a:xfrm>
          <a:prstGeom prst="roundRect">
            <a:avLst>
              <a:gd name="adj" fmla="val 2118"/>
            </a:avLst>
          </a:prstGeom>
          <a:solidFill>
            <a:srgbClr val="ffffff"/>
          </a:solidFill>
          <a:ln w="13970">
            <a:solidFill>
              <a:srgbClr val="ff87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6" name="Shape 13"/>
          <p:cNvSpPr/>
          <p:nvPr/>
        </p:nvSpPr>
        <p:spPr>
          <a:xfrm>
            <a:off x="7406640" y="1097280"/>
            <a:ext cx="108720" cy="4250880"/>
          </a:xfrm>
          <a:prstGeom prst="rect">
            <a:avLst/>
          </a:prstGeom>
          <a:solidFill>
            <a:srgbClr val="ff8700"/>
          </a:solidFill>
          <a:ln w="12700">
            <a:solidFill>
              <a:srgbClr val="ff8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77" name="Text 14"/>
          <p:cNvSpPr/>
          <p:nvPr/>
        </p:nvSpPr>
        <p:spPr>
          <a:xfrm>
            <a:off x="7635240" y="1252800"/>
            <a:ext cx="356508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8700"/>
                </a:solidFill>
                <a:effectLst/>
                <a:uFillTx/>
                <a:latin typeface="Aptos"/>
              </a:rPr>
              <a:t>Contexto operacional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5"/>
          <p:cNvSpPr/>
          <p:nvPr/>
        </p:nvSpPr>
        <p:spPr>
          <a:xfrm>
            <a:off x="7635240" y="1536120"/>
            <a:ext cx="3565080" cy="372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~1.000 reclamações/dia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SLA de 10 dias corridos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Picos e fluxo contínuo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Rastreabilidade ponta a ponta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Identificação automática de casos próximos do prazo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Histórico do cliente via datamesh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PlaceHolder 1"/>
          <p:cNvSpPr>
            <a:spLocks noGrp="1"/>
          </p:cNvSpPr>
          <p:nvPr>
            <p:ph type="sldNum" idx="5"/>
          </p:nvPr>
        </p:nvSpPr>
        <p:spPr>
          <a:xfrm>
            <a:off x="11292840" y="6592680"/>
            <a:ext cx="798840" cy="2988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rPr>
              <a:t>3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Rectangle 25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81" name="Rectangle 26"/>
          <p:cNvSpPr/>
          <p:nvPr/>
        </p:nvSpPr>
        <p:spPr>
          <a:xfrm>
            <a:off x="0" y="6807600"/>
            <a:ext cx="12190680" cy="493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Rounded Rectangle 1"/>
          <p:cNvSpPr/>
          <p:nvPr/>
        </p:nvSpPr>
        <p:spPr>
          <a:xfrm>
            <a:off x="411480" y="320040"/>
            <a:ext cx="309960" cy="309960"/>
          </a:xfrm>
          <a:prstGeom prst="roundRect">
            <a:avLst>
              <a:gd name="adj" fmla="val 16667"/>
            </a:avLst>
          </a:prstGeom>
          <a:solidFill>
            <a:srgbClr val="ec7000"/>
          </a:solidFill>
          <a:ln>
            <a:solidFill>
              <a:srgbClr val="e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2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2"/>
          <p:cNvSpPr/>
          <p:nvPr/>
        </p:nvSpPr>
        <p:spPr>
          <a:xfrm>
            <a:off x="777240" y="237600"/>
            <a:ext cx="111546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90000" tIns="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50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Premissas que guiaram o System Design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Box 3"/>
          <p:cNvSpPr/>
          <p:nvPr/>
        </p:nvSpPr>
        <p:spPr>
          <a:xfrm>
            <a:off x="777240" y="694800"/>
            <a:ext cx="111546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90000" tIns="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50" b="0" u="none" strike="noStrike">
                <a:solidFill>
                  <a:srgbClr val="645b54"/>
                </a:solidFill>
                <a:effectLst/>
                <a:uFillTx/>
                <a:latin typeface="Aptos"/>
              </a:rPr>
              <a:t>Onde aceitar eventualidade, onde exigir consistência forte, onde desacoplar e como operar o fluxo.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Rounded Rectangle 4"/>
          <p:cNvSpPr/>
          <p:nvPr/>
        </p:nvSpPr>
        <p:spPr>
          <a:xfrm>
            <a:off x="502920" y="1024200"/>
            <a:ext cx="3565080" cy="1050480"/>
          </a:xfrm>
          <a:prstGeom prst="roundRect">
            <a:avLst>
              <a:gd name="adj" fmla="val 16667"/>
            </a:avLst>
          </a:prstGeom>
          <a:solidFill>
            <a:srgbClr val="fff3e8"/>
          </a:solidFill>
          <a:ln w="15875">
            <a:solidFill>
              <a:srgbClr val="e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Arquitetura-alvo, não Big Bang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pt-BR" sz="88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Para ~1.000 reclamações/dia, uma versão inicial poderia ser mais simples. O desenho mostra capacidades-alvo para evoluir com segurança, rastreabilidade e resiliência.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Rounded Rectangle 5"/>
          <p:cNvSpPr/>
          <p:nvPr/>
        </p:nvSpPr>
        <p:spPr>
          <a:xfrm>
            <a:off x="4343400" y="1024200"/>
            <a:ext cx="3565080" cy="1050480"/>
          </a:xfrm>
          <a:prstGeom prst="roundRect">
            <a:avLst>
              <a:gd name="adj" fmla="val 16667"/>
            </a:avLst>
          </a:prstGeom>
          <a:solidFill>
            <a:srgbClr val="fff3e8"/>
          </a:solidFill>
          <a:ln w="15875">
            <a:solidFill>
              <a:srgbClr val="c65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633fb4"/>
                </a:solidFill>
                <a:effectLst/>
                <a:uFillTx/>
                <a:latin typeface="Aptos"/>
              </a:rPr>
              <a:t>MVP orientado ao case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pt-BR" sz="88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Foco em entrada, padronização, OCR/interpretação, classificação, portal interno, SLA, integrações e analytics. Tratativa completa fica como evolução.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Rounded Rectangle 6"/>
          <p:cNvSpPr/>
          <p:nvPr/>
        </p:nvSpPr>
        <p:spPr>
          <a:xfrm>
            <a:off x="8183880" y="1024200"/>
            <a:ext cx="3565080" cy="1050480"/>
          </a:xfrm>
          <a:prstGeom prst="roundRect">
            <a:avLst>
              <a:gd name="adj" fmla="val 16667"/>
            </a:avLst>
          </a:prstGeom>
          <a:solidFill>
            <a:srgbClr val="fff3e8"/>
          </a:solidFill>
          <a:ln w="15875">
            <a:solidFill>
              <a:srgbClr val="e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e66900"/>
                </a:solidFill>
                <a:effectLst/>
                <a:uFillTx/>
                <a:latin typeface="Aptos"/>
              </a:rPr>
              <a:t>Dados sensíveis minimizados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pt-BR" sz="88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JWT obrigatório. No canal físico, CPF/CNPJ serve para resolver clienteId. O domínio principal trabalha preferencialmente com clienteId.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7"/>
          <p:cNvSpPr/>
          <p:nvPr/>
        </p:nvSpPr>
        <p:spPr>
          <a:xfrm>
            <a:off x="567000" y="2331720"/>
            <a:ext cx="10971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45720" rIns="45720" tIns="18360" bIns="1836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4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Perguntas que orientaram o desenho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Rounded Rectangle 8"/>
          <p:cNvSpPr/>
          <p:nvPr/>
        </p:nvSpPr>
        <p:spPr>
          <a:xfrm>
            <a:off x="502920" y="2697480"/>
            <a:ext cx="2193480" cy="150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1. Entrada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Disponibilidade &gt; consistência imediata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pt-BR" sz="80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Não perder solicitação; usar buffer/estado transitório.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Rounded Rectangle 9"/>
          <p:cNvSpPr/>
          <p:nvPr/>
        </p:nvSpPr>
        <p:spPr>
          <a:xfrm>
            <a:off x="2807280" y="2697480"/>
            <a:ext cx="2193480" cy="150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c65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633fb4"/>
                </a:solidFill>
                <a:effectLst/>
                <a:uFillTx/>
                <a:latin typeface="Aptos"/>
              </a:rPr>
              <a:t>2. Arquivos/OCR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Eventual e assíncrono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pt-BR" sz="80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Upload S3, OCR e revisão não bloqueiam a recepção.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Rounded Rectangle 10"/>
          <p:cNvSpPr/>
          <p:nvPr/>
        </p:nvSpPr>
        <p:spPr>
          <a:xfrm>
            <a:off x="5111640" y="2697480"/>
            <a:ext cx="2193480" cy="150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e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e66900"/>
                </a:solidFill>
                <a:effectLst/>
                <a:uFillTx/>
                <a:latin typeface="Aptos"/>
              </a:rPr>
              <a:t>3. Domínio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Consistência forte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pt-BR" sz="80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Reclamação oficial, classificação, SLA e auditoria no Aurora.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ounded Rectangle 11"/>
          <p:cNvSpPr/>
          <p:nvPr/>
        </p:nvSpPr>
        <p:spPr>
          <a:xfrm>
            <a:off x="7415640" y="2697480"/>
            <a:ext cx="2193480" cy="150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ff8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ff8700"/>
                </a:solidFill>
                <a:effectLst/>
                <a:uFillTx/>
                <a:latin typeface="Aptos"/>
              </a:rPr>
              <a:t>4. Integrações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Eventual consistency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pt-BR" sz="80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Sistemas externos não bloqueiam criação da reclamação.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Rounded Rectangle 12"/>
          <p:cNvSpPr/>
          <p:nvPr/>
        </p:nvSpPr>
        <p:spPr>
          <a:xfrm>
            <a:off x="9720000" y="2697480"/>
            <a:ext cx="2193480" cy="15076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875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65900"/>
                </a:solidFill>
                <a:effectLst/>
                <a:uFillTx/>
                <a:latin typeface="Aptos"/>
              </a:rPr>
              <a:t>5. Analytics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</a:pPr>
            <a:r>
              <a:rPr lang="pt-BR" sz="80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Desacoplado do OLTP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pt-BR" sz="80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Export/ETL para S3/Glue/Athena sem pressionar o transacional.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Rounded Rectangle 13"/>
          <p:cNvSpPr/>
          <p:nvPr/>
        </p:nvSpPr>
        <p:spPr>
          <a:xfrm>
            <a:off x="502920" y="4480560"/>
            <a:ext cx="3610800" cy="1260720"/>
          </a:xfrm>
          <a:prstGeom prst="roundRect">
            <a:avLst>
              <a:gd name="adj" fmla="val 16667"/>
            </a:avLst>
          </a:prstGeom>
          <a:solidFill>
            <a:srgbClr val="fff8ee"/>
          </a:solidFill>
          <a:ln w="15875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65900"/>
                </a:solidFill>
                <a:effectLst/>
                <a:uFillTx/>
                <a:latin typeface="Aptos"/>
              </a:rPr>
              <a:t>Resiliência e operação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pt-BR" sz="86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Retries, DLQ, redrive, idempotência, correlationId e observabilidade desde o desenho.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Rounded Rectangle 14"/>
          <p:cNvSpPr/>
          <p:nvPr/>
        </p:nvSpPr>
        <p:spPr>
          <a:xfrm>
            <a:off x="4343400" y="4480560"/>
            <a:ext cx="3610800" cy="1260720"/>
          </a:xfrm>
          <a:prstGeom prst="roundRect">
            <a:avLst>
              <a:gd name="adj" fmla="val 16667"/>
            </a:avLst>
          </a:prstGeom>
          <a:solidFill>
            <a:srgbClr val="fff8ee"/>
          </a:solidFill>
          <a:ln w="15875">
            <a:solidFill>
              <a:srgbClr val="ff8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ff8700"/>
                </a:solidFill>
                <a:effectLst/>
                <a:uFillTx/>
                <a:latin typeface="Aptos"/>
              </a:rPr>
              <a:t>Latência percebida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pt-BR" sz="86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Fluxo síncrono confirma recebimento. Processamentos pesados como OCR, integrações e analytics seguem assíncronos.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Rounded Rectangle 15"/>
          <p:cNvSpPr/>
          <p:nvPr/>
        </p:nvSpPr>
        <p:spPr>
          <a:xfrm>
            <a:off x="8183880" y="4480560"/>
            <a:ext cx="3610800" cy="1260720"/>
          </a:xfrm>
          <a:prstGeom prst="roundRect">
            <a:avLst>
              <a:gd name="adj" fmla="val 16667"/>
            </a:avLst>
          </a:prstGeom>
          <a:solidFill>
            <a:srgbClr val="fffcf7"/>
          </a:solidFill>
          <a:ln w="15875">
            <a:solidFill>
              <a:srgbClr val="645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645b54"/>
                </a:solidFill>
                <a:effectLst/>
                <a:uFillTx/>
                <a:latin typeface="Aptos"/>
              </a:rPr>
              <a:t>Trade-off consciente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pt-BR" sz="86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Onde a complexidade não se paga no dia 1, deixo como evolução: cache avançado, IA produtiva e dashboards completos.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17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98" name="Rectangle 18"/>
          <p:cNvSpPr/>
          <p:nvPr/>
        </p:nvSpPr>
        <p:spPr>
          <a:xfrm>
            <a:off x="0" y="6807600"/>
            <a:ext cx="12190680" cy="493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ounded Rectangle 1"/>
          <p:cNvSpPr/>
          <p:nvPr/>
        </p:nvSpPr>
        <p:spPr>
          <a:xfrm>
            <a:off x="411480" y="320040"/>
            <a:ext cx="309960" cy="309960"/>
          </a:xfrm>
          <a:prstGeom prst="roundRect">
            <a:avLst>
              <a:gd name="adj" fmla="val 16667"/>
            </a:avLst>
          </a:prstGeom>
          <a:solidFill>
            <a:srgbClr val="ec7000"/>
          </a:solidFill>
          <a:ln>
            <a:solidFill>
              <a:srgbClr val="e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3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777240" y="237600"/>
            <a:ext cx="111546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90000" tIns="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50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Consistência e dados por etapa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777240" y="694800"/>
            <a:ext cx="111546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90000" tIns="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50" b="0" u="none" strike="noStrike">
                <a:solidFill>
                  <a:srgbClr val="645b54"/>
                </a:solidFill>
                <a:effectLst/>
                <a:uFillTx/>
                <a:latin typeface="Aptos"/>
              </a:rPr>
              <a:t>Cada trecho do fluxo tem uma necessidade diferente de consistência, latência e disponibilidade.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Rectangle 4"/>
          <p:cNvSpPr/>
          <p:nvPr/>
        </p:nvSpPr>
        <p:spPr>
          <a:xfrm>
            <a:off x="502920" y="1097280"/>
            <a:ext cx="1964880" cy="657360"/>
          </a:xfrm>
          <a:prstGeom prst="rect">
            <a:avLst/>
          </a:prstGeom>
          <a:solidFill>
            <a:srgbClr val="0919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Etapa</a:t>
            </a:r>
            <a:endParaRPr lang="pt-BR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Rectangle 5"/>
          <p:cNvSpPr/>
          <p:nvPr/>
        </p:nvSpPr>
        <p:spPr>
          <a:xfrm>
            <a:off x="2468880" y="1097280"/>
            <a:ext cx="2742120" cy="657360"/>
          </a:xfrm>
          <a:prstGeom prst="rect">
            <a:avLst/>
          </a:prstGeom>
          <a:solidFill>
            <a:srgbClr val="0919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Necessidade</a:t>
            </a:r>
            <a:endParaRPr lang="pt-BR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4" name="Rectangle 6"/>
          <p:cNvSpPr/>
          <p:nvPr/>
        </p:nvSpPr>
        <p:spPr>
          <a:xfrm>
            <a:off x="5212080" y="1097280"/>
            <a:ext cx="2879280" cy="657360"/>
          </a:xfrm>
          <a:prstGeom prst="rect">
            <a:avLst/>
          </a:prstGeom>
          <a:solidFill>
            <a:srgbClr val="0919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Decisão no desenho</a:t>
            </a:r>
            <a:endParaRPr lang="pt-BR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Rectangle 7"/>
          <p:cNvSpPr/>
          <p:nvPr/>
        </p:nvSpPr>
        <p:spPr>
          <a:xfrm>
            <a:off x="8092440" y="1097280"/>
            <a:ext cx="3336480" cy="657360"/>
          </a:xfrm>
          <a:prstGeom prst="rect">
            <a:avLst/>
          </a:prstGeom>
          <a:solidFill>
            <a:srgbClr val="09194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45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7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Risco/mitigação</a:t>
            </a:r>
            <a:endParaRPr lang="pt-BR" sz="77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Rectangle 8"/>
          <p:cNvSpPr/>
          <p:nvPr/>
        </p:nvSpPr>
        <p:spPr>
          <a:xfrm>
            <a:off x="502920" y="1755720"/>
            <a:ext cx="1964880" cy="657360"/>
          </a:xfrm>
          <a:prstGeom prst="rect">
            <a:avLst/>
          </a:prstGeom>
          <a:solidFill>
            <a:srgbClr val="fff8f1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Entrada de solicitações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Rectangle 9"/>
          <p:cNvSpPr/>
          <p:nvPr/>
        </p:nvSpPr>
        <p:spPr>
          <a:xfrm>
            <a:off x="2468880" y="1755720"/>
            <a:ext cx="2742120" cy="657360"/>
          </a:xfrm>
          <a:prstGeom prst="rect">
            <a:avLst/>
          </a:prstGeom>
          <a:solidFill>
            <a:srgbClr val="fff8f1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Disponibilidade e baixa latência; consistência eventual aceitável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Rectangle 10"/>
          <p:cNvSpPr/>
          <p:nvPr/>
        </p:nvSpPr>
        <p:spPr>
          <a:xfrm>
            <a:off x="5212080" y="1755720"/>
            <a:ext cx="2879280" cy="657360"/>
          </a:xfrm>
          <a:prstGeom prst="rect">
            <a:avLst/>
          </a:prstGeom>
          <a:solidFill>
            <a:srgbClr val="fff8f1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Serviço de Entrada + DynamoDB + idempotencyKey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11"/>
          <p:cNvSpPr/>
          <p:nvPr/>
        </p:nvSpPr>
        <p:spPr>
          <a:xfrm>
            <a:off x="8092440" y="1755720"/>
            <a:ext cx="3336480" cy="657360"/>
          </a:xfrm>
          <a:prstGeom prst="rect">
            <a:avLst/>
          </a:prstGeom>
          <a:solidFill>
            <a:srgbClr val="fff8f1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Duplicidade/retry → idempotência e status de processamento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Rectangle 12"/>
          <p:cNvSpPr/>
          <p:nvPr/>
        </p:nvSpPr>
        <p:spPr>
          <a:xfrm>
            <a:off x="502920" y="2414160"/>
            <a:ext cx="1964880" cy="657360"/>
          </a:xfrm>
          <a:prstGeom prst="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Upload e OCR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Rectangle 13"/>
          <p:cNvSpPr/>
          <p:nvPr/>
        </p:nvSpPr>
        <p:spPr>
          <a:xfrm>
            <a:off x="2468880" y="2414160"/>
            <a:ext cx="2742120" cy="657360"/>
          </a:xfrm>
          <a:prstGeom prst="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Assíncrono; arquivo não deve bloquear recepção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Rectangle 14"/>
          <p:cNvSpPr/>
          <p:nvPr/>
        </p:nvSpPr>
        <p:spPr>
          <a:xfrm>
            <a:off x="5212080" y="2414160"/>
            <a:ext cx="2879280" cy="657360"/>
          </a:xfrm>
          <a:prstGeom prst="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S3 pre-signed URL + Lambda OCR + SQS Resultado OCR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Rectangle 15"/>
          <p:cNvSpPr/>
          <p:nvPr/>
        </p:nvSpPr>
        <p:spPr>
          <a:xfrm>
            <a:off x="8092440" y="2414160"/>
            <a:ext cx="3336480" cy="657360"/>
          </a:xfrm>
          <a:prstGeom prst="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Falha OCR → retry, DLQ, revisão manual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Rectangle 16"/>
          <p:cNvSpPr/>
          <p:nvPr/>
        </p:nvSpPr>
        <p:spPr>
          <a:xfrm>
            <a:off x="502920" y="3072240"/>
            <a:ext cx="1964880" cy="657360"/>
          </a:xfrm>
          <a:prstGeom prst="rect">
            <a:avLst/>
          </a:prstGeom>
          <a:solidFill>
            <a:srgbClr val="fff8f1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Fronteira Entrada → Gestão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" name="Rectangle 17"/>
          <p:cNvSpPr/>
          <p:nvPr/>
        </p:nvSpPr>
        <p:spPr>
          <a:xfrm>
            <a:off x="2468880" y="3072240"/>
            <a:ext cx="2742120" cy="657360"/>
          </a:xfrm>
          <a:prstGeom prst="rect">
            <a:avLst/>
          </a:prstGeom>
          <a:solidFill>
            <a:srgbClr val="fff8f1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At-least-once; desacoplamento entre contextos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Rectangle 18"/>
          <p:cNvSpPr/>
          <p:nvPr/>
        </p:nvSpPr>
        <p:spPr>
          <a:xfrm>
            <a:off x="5212080" y="3072240"/>
            <a:ext cx="2879280" cy="657360"/>
          </a:xfrm>
          <a:prstGeom prst="rect">
            <a:avLst/>
          </a:prstGeom>
          <a:solidFill>
            <a:srgbClr val="fff8f1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SQS Solicitações Padronizadas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Rectangle 19"/>
          <p:cNvSpPr/>
          <p:nvPr/>
        </p:nvSpPr>
        <p:spPr>
          <a:xfrm>
            <a:off x="8092440" y="3072240"/>
            <a:ext cx="3336480" cy="657360"/>
          </a:xfrm>
          <a:prstGeom prst="rect">
            <a:avLst/>
          </a:prstGeom>
          <a:solidFill>
            <a:srgbClr val="fff8f1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Mensagem duplicada → consumer idempotente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Rectangle 20"/>
          <p:cNvSpPr/>
          <p:nvPr/>
        </p:nvSpPr>
        <p:spPr>
          <a:xfrm>
            <a:off x="502920" y="3730680"/>
            <a:ext cx="1964880" cy="657360"/>
          </a:xfrm>
          <a:prstGeom prst="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Gestão da Reclamação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Rectangle 21"/>
          <p:cNvSpPr/>
          <p:nvPr/>
        </p:nvSpPr>
        <p:spPr>
          <a:xfrm>
            <a:off x="2468880" y="3730680"/>
            <a:ext cx="2742120" cy="657360"/>
          </a:xfrm>
          <a:prstGeom prst="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Consistência forte e transacional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Rectangle 22"/>
          <p:cNvSpPr/>
          <p:nvPr/>
        </p:nvSpPr>
        <p:spPr>
          <a:xfrm>
            <a:off x="5212080" y="3730680"/>
            <a:ext cx="2879280" cy="657360"/>
          </a:xfrm>
          <a:prstGeom prst="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Aurora PostgreSQL como fonte de verdade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Rectangle 23"/>
          <p:cNvSpPr/>
          <p:nvPr/>
        </p:nvSpPr>
        <p:spPr>
          <a:xfrm>
            <a:off x="8092440" y="3730680"/>
            <a:ext cx="3336480" cy="657360"/>
          </a:xfrm>
          <a:prstGeom prst="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Conflito de estado → transação, constraints e invariantes do domínio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Rectangle 24"/>
          <p:cNvSpPr/>
          <p:nvPr/>
        </p:nvSpPr>
        <p:spPr>
          <a:xfrm>
            <a:off x="502920" y="4389120"/>
            <a:ext cx="1964880" cy="657360"/>
          </a:xfrm>
          <a:prstGeom prst="rect">
            <a:avLst/>
          </a:prstGeom>
          <a:solidFill>
            <a:srgbClr val="fff8f1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SLA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25"/>
          <p:cNvSpPr/>
          <p:nvPr/>
        </p:nvSpPr>
        <p:spPr>
          <a:xfrm>
            <a:off x="2468880" y="4389120"/>
            <a:ext cx="2742120" cy="657360"/>
          </a:xfrm>
          <a:prstGeom prst="rect">
            <a:avLst/>
          </a:prstGeom>
          <a:solidFill>
            <a:srgbClr val="fff8f1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Regra de negócio derivada do estado oficial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Rectangle 26"/>
          <p:cNvSpPr/>
          <p:nvPr/>
        </p:nvSpPr>
        <p:spPr>
          <a:xfrm>
            <a:off x="5212080" y="4389120"/>
            <a:ext cx="2879280" cy="657360"/>
          </a:xfrm>
          <a:prstGeom prst="rect">
            <a:avLst/>
          </a:prstGeom>
          <a:solidFill>
            <a:srgbClr val="fff8f1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agenda_sla no Aurora + EventBridge Scheduler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Rectangle 27"/>
          <p:cNvSpPr/>
          <p:nvPr/>
        </p:nvSpPr>
        <p:spPr>
          <a:xfrm>
            <a:off x="8092440" y="4389120"/>
            <a:ext cx="3336480" cy="657360"/>
          </a:xfrm>
          <a:prstGeom prst="rect">
            <a:avLst/>
          </a:prstGeom>
          <a:solidFill>
            <a:srgbClr val="fff8f1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Scan completo → índice por status/alert_at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28"/>
          <p:cNvSpPr/>
          <p:nvPr/>
        </p:nvSpPr>
        <p:spPr>
          <a:xfrm>
            <a:off x="502920" y="5047560"/>
            <a:ext cx="1964880" cy="657360"/>
          </a:xfrm>
          <a:prstGeom prst="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Integrações externas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29"/>
          <p:cNvSpPr/>
          <p:nvPr/>
        </p:nvSpPr>
        <p:spPr>
          <a:xfrm>
            <a:off x="2468880" y="5047560"/>
            <a:ext cx="2742120" cy="657360"/>
          </a:xfrm>
          <a:prstGeom prst="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Eventual consistency; legado não bloqueia domínio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Rectangle 30"/>
          <p:cNvSpPr/>
          <p:nvPr/>
        </p:nvSpPr>
        <p:spPr>
          <a:xfrm>
            <a:off x="5212080" y="5047560"/>
            <a:ext cx="2879280" cy="657360"/>
          </a:xfrm>
          <a:prstGeom prst="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SQS Integrações + Worker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31"/>
          <p:cNvSpPr/>
          <p:nvPr/>
        </p:nvSpPr>
        <p:spPr>
          <a:xfrm>
            <a:off x="8092440" y="5047560"/>
            <a:ext cx="3336480" cy="657360"/>
          </a:xfrm>
          <a:prstGeom prst="rect">
            <a:avLst/>
          </a:prstGeom>
          <a:solidFill>
            <a:srgbClr val="ffffff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Falha externa → retry, DLQ, redrive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Rectangle 32"/>
          <p:cNvSpPr/>
          <p:nvPr/>
        </p:nvSpPr>
        <p:spPr>
          <a:xfrm>
            <a:off x="502920" y="5706000"/>
            <a:ext cx="1964880" cy="657360"/>
          </a:xfrm>
          <a:prstGeom prst="rect">
            <a:avLst/>
          </a:prstGeom>
          <a:solidFill>
            <a:srgbClr val="fff8f1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Analytics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Rectangle 33"/>
          <p:cNvSpPr/>
          <p:nvPr/>
        </p:nvSpPr>
        <p:spPr>
          <a:xfrm>
            <a:off x="2468880" y="5706000"/>
            <a:ext cx="2742120" cy="657360"/>
          </a:xfrm>
          <a:prstGeom prst="rect">
            <a:avLst/>
          </a:prstGeom>
          <a:solidFill>
            <a:srgbClr val="fff8f1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Consistência eventual; consulta analítica fora do OLTP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34"/>
          <p:cNvSpPr/>
          <p:nvPr/>
        </p:nvSpPr>
        <p:spPr>
          <a:xfrm>
            <a:off x="5212080" y="5706000"/>
            <a:ext cx="2879280" cy="657360"/>
          </a:xfrm>
          <a:prstGeom prst="rect">
            <a:avLst/>
          </a:prstGeom>
          <a:solidFill>
            <a:srgbClr val="fff8f1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Exports para S3 Raw + Glue + Athena/QuickSight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Rectangle 35"/>
          <p:cNvSpPr/>
          <p:nvPr/>
        </p:nvSpPr>
        <p:spPr>
          <a:xfrm>
            <a:off x="8092440" y="5706000"/>
            <a:ext cx="3336480" cy="657360"/>
          </a:xfrm>
          <a:prstGeom prst="rect">
            <a:avLst/>
          </a:prstGeom>
          <a:solidFill>
            <a:srgbClr val="fff8f1"/>
          </a:solidFill>
          <a:ln>
            <a:solidFill>
              <a:srgbClr val="da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45720" rIns="36720" tIns="27360" bIns="1836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710" b="0" u="none" strike="noStrike">
                <a:solidFill>
                  <a:srgbClr val="191e28"/>
                </a:solidFill>
                <a:effectLst/>
                <a:uFillTx/>
                <a:latin typeface="Aptos"/>
              </a:rPr>
              <a:t>Relatório atrasado → tolerância de atualização periódica</a:t>
            </a:r>
            <a:endParaRPr lang="pt-BR" sz="7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Rounded Rectangle 36"/>
          <p:cNvSpPr/>
          <p:nvPr/>
        </p:nvSpPr>
        <p:spPr>
          <a:xfrm>
            <a:off x="502920" y="6300000"/>
            <a:ext cx="11291760" cy="346320"/>
          </a:xfrm>
          <a:prstGeom prst="roundRect">
            <a:avLst>
              <a:gd name="adj" fmla="val 16667"/>
            </a:avLst>
          </a:prstGeom>
          <a:solidFill>
            <a:srgbClr val="fff8f1"/>
          </a:solidFill>
          <a:ln>
            <a:solidFill>
              <a:srgbClr val="fac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920" b="0" u="none" strike="noStrike">
                <a:solidFill>
                  <a:srgbClr val="645b54"/>
                </a:solidFill>
                <a:effectLst/>
                <a:uFillTx/>
                <a:latin typeface="Aptos"/>
              </a:rPr>
              <a:t>Consistência forte fica onde há decisão de negócio oficial; eventualidade é aceita em anexos, integrações, analytics e processamento de apoio.</a:t>
            </a:r>
            <a:endParaRPr lang="pt-BR" sz="9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ectangle 37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36" name="Rectangle 38"/>
          <p:cNvSpPr/>
          <p:nvPr/>
        </p:nvSpPr>
        <p:spPr>
          <a:xfrm>
            <a:off x="0" y="6807600"/>
            <a:ext cx="12190680" cy="493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Rounded Rectangle 1"/>
          <p:cNvSpPr/>
          <p:nvPr/>
        </p:nvSpPr>
        <p:spPr>
          <a:xfrm>
            <a:off x="411480" y="320040"/>
            <a:ext cx="309960" cy="309960"/>
          </a:xfrm>
          <a:prstGeom prst="roundRect">
            <a:avLst>
              <a:gd name="adj" fmla="val 16667"/>
            </a:avLst>
          </a:prstGeom>
          <a:solidFill>
            <a:srgbClr val="ec7000"/>
          </a:solidFill>
          <a:ln>
            <a:solidFill>
              <a:srgbClr val="e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2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4</a:t>
            </a:r>
            <a:endParaRPr lang="pt-B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Box 2"/>
          <p:cNvSpPr/>
          <p:nvPr/>
        </p:nvSpPr>
        <p:spPr>
          <a:xfrm>
            <a:off x="777240" y="237600"/>
            <a:ext cx="11154600" cy="501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90000" tIns="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50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Premissas não funcionais e impactos no desenho</a:t>
            </a:r>
            <a:endParaRPr lang="pt-BR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Box 3"/>
          <p:cNvSpPr/>
          <p:nvPr/>
        </p:nvSpPr>
        <p:spPr>
          <a:xfrm>
            <a:off x="777240" y="694800"/>
            <a:ext cx="111546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0" rIns="90000" tIns="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050" b="0" u="none" strike="noStrike">
                <a:solidFill>
                  <a:srgbClr val="645b54"/>
                </a:solidFill>
                <a:effectLst/>
                <a:uFillTx/>
                <a:latin typeface="Aptos"/>
              </a:rPr>
              <a:t>Além do fluxo funcional, o system design foi orientado por NFRs: latência, segurança, observabilidade, escalabilidade e operação.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Rounded Rectangle 4"/>
          <p:cNvSpPr/>
          <p:nvPr/>
        </p:nvSpPr>
        <p:spPr>
          <a:xfrm>
            <a:off x="594360" y="1115640"/>
            <a:ext cx="5165280" cy="1077840"/>
          </a:xfrm>
          <a:prstGeom prst="roundRect">
            <a:avLst>
              <a:gd name="adj" fmla="val 16667"/>
            </a:avLst>
          </a:prstGeom>
          <a:solidFill>
            <a:srgbClr val="fff3e8"/>
          </a:solidFill>
          <a:ln w="15875">
            <a:solidFill>
              <a:srgbClr val="e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Volume e picos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pt-BR" sz="88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~1.000/dia inicialmente. Picos são absorvidos por SQS e consumidores escaláveis, sem obrigar superdimensionamento síncrono.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5"/>
          <p:cNvSpPr/>
          <p:nvPr/>
        </p:nvSpPr>
        <p:spPr>
          <a:xfrm>
            <a:off x="6355080" y="1115640"/>
            <a:ext cx="5165280" cy="1077840"/>
          </a:xfrm>
          <a:prstGeom prst="roundRect">
            <a:avLst>
              <a:gd name="adj" fmla="val 16667"/>
            </a:avLst>
          </a:prstGeom>
          <a:solidFill>
            <a:srgbClr val="fff8ee"/>
          </a:solidFill>
          <a:ln w="15875">
            <a:solidFill>
              <a:srgbClr val="ff8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ff8700"/>
                </a:solidFill>
                <a:effectLst/>
                <a:uFillTx/>
                <a:latin typeface="Aptos"/>
              </a:rPr>
              <a:t>Latência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pt-BR" sz="88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Recepção deve ser rápida. OCR, integrações e analytics não bloqueiam resposta inicial ao canal.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Rounded Rectangle 6"/>
          <p:cNvSpPr/>
          <p:nvPr/>
        </p:nvSpPr>
        <p:spPr>
          <a:xfrm>
            <a:off x="594360" y="2487240"/>
            <a:ext cx="5165280" cy="1077840"/>
          </a:xfrm>
          <a:prstGeom prst="roundRect">
            <a:avLst>
              <a:gd name="adj" fmla="val 16667"/>
            </a:avLst>
          </a:prstGeom>
          <a:solidFill>
            <a:srgbClr val="fff3e8"/>
          </a:solidFill>
          <a:ln w="15875">
            <a:solidFill>
              <a:srgbClr val="e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e66900"/>
                </a:solidFill>
                <a:effectLst/>
                <a:uFillTx/>
                <a:latin typeface="Aptos"/>
              </a:rPr>
              <a:t>Segurança/LGPD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pt-BR" sz="88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JWT obrigatório, CPF/CNPJ minimizado, clienteId no domínio, upload direto no S3, logs mascarados e auditoria.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Rounded Rectangle 7"/>
          <p:cNvSpPr/>
          <p:nvPr/>
        </p:nvSpPr>
        <p:spPr>
          <a:xfrm>
            <a:off x="6355080" y="2487240"/>
            <a:ext cx="5165280" cy="1077840"/>
          </a:xfrm>
          <a:prstGeom prst="roundRect">
            <a:avLst>
              <a:gd name="adj" fmla="val 16667"/>
            </a:avLst>
          </a:prstGeom>
          <a:solidFill>
            <a:srgbClr val="fff3e8"/>
          </a:solidFill>
          <a:ln w="15875">
            <a:solidFill>
              <a:srgbClr val="c653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633fb4"/>
                </a:solidFill>
                <a:effectLst/>
                <a:uFillTx/>
                <a:latin typeface="Aptos"/>
              </a:rPr>
              <a:t>Idempotência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pt-BR" sz="88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Retries, redrive e SQS Standard exigem idempotencyKey, solicitacaoId, constraints e checagem de status.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8"/>
          <p:cNvSpPr/>
          <p:nvPr/>
        </p:nvSpPr>
        <p:spPr>
          <a:xfrm>
            <a:off x="594360" y="3858840"/>
            <a:ext cx="5165280" cy="1077840"/>
          </a:xfrm>
          <a:prstGeom prst="roundRect">
            <a:avLst>
              <a:gd name="adj" fmla="val 16667"/>
            </a:avLst>
          </a:prstGeom>
          <a:solidFill>
            <a:srgbClr val="fff8ee"/>
          </a:solidFill>
          <a:ln w="15875">
            <a:solidFill>
              <a:srgbClr val="ffb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965900"/>
                </a:solidFill>
                <a:effectLst/>
                <a:uFillTx/>
                <a:latin typeface="Aptos"/>
              </a:rPr>
              <a:t>Operabilidade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pt-BR" sz="88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Métricas de backlog, idade de mensagem, DLQ, OCR, baixa confiança e SLA. Redrive com processo operacional.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Rounded Rectangle 9"/>
          <p:cNvSpPr/>
          <p:nvPr/>
        </p:nvSpPr>
        <p:spPr>
          <a:xfrm>
            <a:off x="6355080" y="3858840"/>
            <a:ext cx="5165280" cy="1077840"/>
          </a:xfrm>
          <a:prstGeom prst="roundRect">
            <a:avLst>
              <a:gd name="adj" fmla="val 16667"/>
            </a:avLst>
          </a:prstGeom>
          <a:solidFill>
            <a:srgbClr val="fffcf7"/>
          </a:solidFill>
          <a:ln w="15875">
            <a:solidFill>
              <a:srgbClr val="645b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09800" rIns="90000" tIns="73080" bIns="54720" anchor="ctr">
            <a:noAutofit/>
          </a:bodyPr>
          <a:p>
            <a:pPr algn="ctr" defTabSz="914400">
              <a:lnSpc>
                <a:spcPct val="100000"/>
              </a:lnSpc>
            </a:pPr>
            <a:r>
              <a:rPr lang="pt-BR" sz="1100" b="1" u="none" strike="noStrike">
                <a:solidFill>
                  <a:srgbClr val="645b54"/>
                </a:solidFill>
                <a:effectLst/>
                <a:uFillTx/>
                <a:latin typeface="Aptos"/>
              </a:rPr>
              <a:t>Evolução incremental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Bef>
                <a:spcPts val="400"/>
              </a:spcBef>
            </a:pPr>
            <a:r>
              <a:rPr lang="pt-BR" sz="880" b="0" u="none" strike="noStrike">
                <a:solidFill>
                  <a:srgbClr val="1e232d"/>
                </a:solidFill>
                <a:effectLst/>
                <a:uFillTx/>
                <a:latin typeface="Aptos"/>
              </a:rPr>
              <a:t>Separações podem começar lógicas e virar físicas: BFFs por canal, cach, dashboards e IA.</a:t>
            </a:r>
            <a:endParaRPr lang="pt-BR" sz="8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Rectangle 12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47" name="Rectangle 13"/>
          <p:cNvSpPr/>
          <p:nvPr/>
        </p:nvSpPr>
        <p:spPr>
          <a:xfrm>
            <a:off x="0" y="6807600"/>
            <a:ext cx="12190680" cy="493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0"/>
          <p:cNvSpPr/>
          <p:nvPr/>
        </p:nvSpPr>
        <p:spPr>
          <a:xfrm>
            <a:off x="502920" y="201240"/>
            <a:ext cx="410400" cy="291600"/>
          </a:xfrm>
          <a:prstGeom prst="roundRect">
            <a:avLst>
              <a:gd name="adj" fmla="val 21875"/>
            </a:avLst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49" name="Text 1"/>
          <p:cNvSpPr/>
          <p:nvPr/>
        </p:nvSpPr>
        <p:spPr>
          <a:xfrm>
            <a:off x="502920" y="246960"/>
            <a:ext cx="4104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"/>
          <p:cNvSpPr/>
          <p:nvPr/>
        </p:nvSpPr>
        <p:spPr>
          <a:xfrm>
            <a:off x="987480" y="228600"/>
            <a:ext cx="10240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MVP vs evolução futura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3"/>
          <p:cNvSpPr/>
          <p:nvPr/>
        </p:nvSpPr>
        <p:spPr>
          <a:xfrm>
            <a:off x="530280" y="658440"/>
            <a:ext cx="10971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Delimitar escopo evita transformar o case em um sistema inteiro de atendimento.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Shape 4"/>
          <p:cNvSpPr/>
          <p:nvPr/>
        </p:nvSpPr>
        <p:spPr>
          <a:xfrm>
            <a:off x="731520" y="1143000"/>
            <a:ext cx="5256720" cy="4433760"/>
          </a:xfrm>
          <a:prstGeom prst="roundRect">
            <a:avLst>
              <a:gd name="adj" fmla="val 2062"/>
            </a:avLst>
          </a:prstGeom>
          <a:solidFill>
            <a:srgbClr val="ecfdf5"/>
          </a:solidFill>
          <a:ln w="1524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3" name="Text 5"/>
          <p:cNvSpPr/>
          <p:nvPr/>
        </p:nvSpPr>
        <p:spPr>
          <a:xfrm>
            <a:off x="960120" y="1371600"/>
            <a:ext cx="27421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Dentro do MVP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6"/>
          <p:cNvSpPr/>
          <p:nvPr/>
        </p:nvSpPr>
        <p:spPr>
          <a:xfrm>
            <a:off x="1005840" y="1755720"/>
            <a:ext cx="4662360" cy="351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marL="114480" indent="-1144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Entrada da reclamação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-1144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Padronização independente do canal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-1144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OCR/interpretação quando houver documento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-1144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Classificação automática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-1144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Criação da reclamação oficial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-1144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Portal interno para consulta/acompanhamento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-1144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SLA e alertas preventivos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-1144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Integrações e analytics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7"/>
          <p:cNvSpPr/>
          <p:nvPr/>
        </p:nvSpPr>
        <p:spPr>
          <a:xfrm>
            <a:off x="6263640" y="1143000"/>
            <a:ext cx="5256720" cy="4433760"/>
          </a:xfrm>
          <a:prstGeom prst="roundRect">
            <a:avLst>
              <a:gd name="adj" fmla="val 2062"/>
            </a:avLst>
          </a:prstGeom>
          <a:solidFill>
            <a:srgbClr val="fff1f2"/>
          </a:solidFill>
          <a:ln w="15240">
            <a:solidFill>
              <a:srgbClr val="e11d4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56" name="Text 8"/>
          <p:cNvSpPr/>
          <p:nvPr/>
        </p:nvSpPr>
        <p:spPr>
          <a:xfrm>
            <a:off x="6492240" y="1371600"/>
            <a:ext cx="36565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Fora do MVP / evolução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9"/>
          <p:cNvSpPr/>
          <p:nvPr/>
        </p:nvSpPr>
        <p:spPr>
          <a:xfrm>
            <a:off x="6537960" y="1755720"/>
            <a:ext cx="4616640" cy="351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marL="114480" indent="-1144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Tratamento humano completo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-1144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Comentários posteriores do cliente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-1144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Novos anexos após abertura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-1144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Reabertura/cancelamento/conclusão como jornadas completas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-1144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IA produtiva para decisão automática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14480" indent="-114480" defTabSz="914400">
              <a:lnSpc>
                <a:spcPct val="100000"/>
              </a:lnSpc>
              <a:buClr>
                <a:srgbClr val="334155"/>
              </a:buClr>
              <a:buFont typeface="Symbol" charset="2"/>
              <a:buChar char=""/>
            </a:pPr>
            <a:r>
              <a:rPr lang="en-US" sz="103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Workflow operacional avançado</a:t>
            </a:r>
            <a:endParaRPr lang="pt-BR" sz="10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0"/>
          <p:cNvSpPr/>
          <p:nvPr/>
        </p:nvSpPr>
        <p:spPr>
          <a:xfrm>
            <a:off x="868680" y="5806440"/>
            <a:ext cx="1060596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2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O foco é apenas no problema do case, criando uma arquitetura que permita a adição futura de novas funcionalidades</a:t>
            </a:r>
            <a:endParaRPr lang="pt-BR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PlaceHolder 1"/>
          <p:cNvSpPr>
            <a:spLocks noGrp="1"/>
          </p:cNvSpPr>
          <p:nvPr>
            <p:ph type="sldNum" idx="6"/>
          </p:nvPr>
        </p:nvSpPr>
        <p:spPr>
          <a:xfrm>
            <a:off x="11292840" y="6592680"/>
            <a:ext cx="798840" cy="2988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rPr>
              <a:t>7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Rectangle 25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61" name="Rectangle 26"/>
          <p:cNvSpPr/>
          <p:nvPr/>
        </p:nvSpPr>
        <p:spPr>
          <a:xfrm>
            <a:off x="0" y="6807600"/>
            <a:ext cx="12190680" cy="493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hape 0"/>
          <p:cNvSpPr/>
          <p:nvPr/>
        </p:nvSpPr>
        <p:spPr>
          <a:xfrm>
            <a:off x="502920" y="201240"/>
            <a:ext cx="410400" cy="291600"/>
          </a:xfrm>
          <a:prstGeom prst="roundRect">
            <a:avLst>
              <a:gd name="adj" fmla="val 21875"/>
            </a:avLst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3" name="Text 1"/>
          <p:cNvSpPr/>
          <p:nvPr/>
        </p:nvSpPr>
        <p:spPr>
          <a:xfrm>
            <a:off x="502920" y="246960"/>
            <a:ext cx="4104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2"/>
          <p:cNvSpPr/>
          <p:nvPr/>
        </p:nvSpPr>
        <p:spPr>
          <a:xfrm>
            <a:off x="987480" y="228600"/>
            <a:ext cx="10240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Fluxo funcional de alto nível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Shape 3"/>
          <p:cNvSpPr/>
          <p:nvPr/>
        </p:nvSpPr>
        <p:spPr>
          <a:xfrm>
            <a:off x="594360" y="1828800"/>
            <a:ext cx="1507680" cy="10504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6" name="Text 4"/>
          <p:cNvSpPr/>
          <p:nvPr/>
        </p:nvSpPr>
        <p:spPr>
          <a:xfrm>
            <a:off x="667440" y="1901880"/>
            <a:ext cx="136152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Canal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digital ou físico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5"/>
          <p:cNvSpPr/>
          <p:nvPr/>
        </p:nvSpPr>
        <p:spPr>
          <a:xfrm>
            <a:off x="2148840" y="2359080"/>
            <a:ext cx="347400" cy="360"/>
          </a:xfrm>
          <a:prstGeom prst="line">
            <a:avLst/>
          </a:prstGeom>
          <a:ln w="15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8" name="Shape 6"/>
          <p:cNvSpPr/>
          <p:nvPr/>
        </p:nvSpPr>
        <p:spPr>
          <a:xfrm>
            <a:off x="2541960" y="1828800"/>
            <a:ext cx="1507680" cy="10504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69" name="Text 7"/>
          <p:cNvSpPr/>
          <p:nvPr/>
        </p:nvSpPr>
        <p:spPr>
          <a:xfrm>
            <a:off x="2615040" y="1901880"/>
            <a:ext cx="136152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Entrada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recepção e padronização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8"/>
          <p:cNvSpPr/>
          <p:nvPr/>
        </p:nvSpPr>
        <p:spPr>
          <a:xfrm>
            <a:off x="4096440" y="2359080"/>
            <a:ext cx="347400" cy="360"/>
          </a:xfrm>
          <a:prstGeom prst="line">
            <a:avLst/>
          </a:prstGeom>
          <a:ln w="15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1" name="Shape 9"/>
          <p:cNvSpPr/>
          <p:nvPr/>
        </p:nvSpPr>
        <p:spPr>
          <a:xfrm>
            <a:off x="4489560" y="1828800"/>
            <a:ext cx="1507680" cy="10504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2" name="Text 10"/>
          <p:cNvSpPr/>
          <p:nvPr/>
        </p:nvSpPr>
        <p:spPr>
          <a:xfrm>
            <a:off x="4563000" y="1901880"/>
            <a:ext cx="136152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Anexo/OCR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documentos e extração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1"/>
          <p:cNvSpPr/>
          <p:nvPr/>
        </p:nvSpPr>
        <p:spPr>
          <a:xfrm>
            <a:off x="6044040" y="2359080"/>
            <a:ext cx="347400" cy="360"/>
          </a:xfrm>
          <a:prstGeom prst="line">
            <a:avLst/>
          </a:prstGeom>
          <a:ln w="15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4" name="Shape 12"/>
          <p:cNvSpPr/>
          <p:nvPr/>
        </p:nvSpPr>
        <p:spPr>
          <a:xfrm>
            <a:off x="6437520" y="1828800"/>
            <a:ext cx="1507680" cy="10504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5" name="Text 13"/>
          <p:cNvSpPr/>
          <p:nvPr/>
        </p:nvSpPr>
        <p:spPr>
          <a:xfrm>
            <a:off x="6510600" y="1901880"/>
            <a:ext cx="136152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Gestão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reclamação oficial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4"/>
          <p:cNvSpPr/>
          <p:nvPr/>
        </p:nvSpPr>
        <p:spPr>
          <a:xfrm>
            <a:off x="7991640" y="2359080"/>
            <a:ext cx="347400" cy="360"/>
          </a:xfrm>
          <a:prstGeom prst="line">
            <a:avLst/>
          </a:prstGeom>
          <a:ln w="15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7" name="Shape 15"/>
          <p:cNvSpPr/>
          <p:nvPr/>
        </p:nvSpPr>
        <p:spPr>
          <a:xfrm>
            <a:off x="8385120" y="1828800"/>
            <a:ext cx="1507680" cy="10504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ff8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78" name="Text 16"/>
          <p:cNvSpPr/>
          <p:nvPr/>
        </p:nvSpPr>
        <p:spPr>
          <a:xfrm>
            <a:off x="8458200" y="1901880"/>
            <a:ext cx="136152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SLA/Portal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visibilidade operacional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7"/>
          <p:cNvSpPr/>
          <p:nvPr/>
        </p:nvSpPr>
        <p:spPr>
          <a:xfrm>
            <a:off x="9939240" y="2359080"/>
            <a:ext cx="347760" cy="360"/>
          </a:xfrm>
          <a:prstGeom prst="line">
            <a:avLst/>
          </a:prstGeom>
          <a:ln w="15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0" name="Shape 18"/>
          <p:cNvSpPr/>
          <p:nvPr/>
        </p:nvSpPr>
        <p:spPr>
          <a:xfrm>
            <a:off x="10332720" y="1828800"/>
            <a:ext cx="1507680" cy="105048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b2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1" name="Text 19"/>
          <p:cNvSpPr/>
          <p:nvPr/>
        </p:nvSpPr>
        <p:spPr>
          <a:xfrm>
            <a:off x="10405800" y="1901880"/>
            <a:ext cx="1361520" cy="90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Integrações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legado e analytics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0"/>
          <p:cNvSpPr/>
          <p:nvPr/>
        </p:nvSpPr>
        <p:spPr>
          <a:xfrm>
            <a:off x="822960" y="3840480"/>
            <a:ext cx="3245040" cy="9590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ec70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3" name="Shape 21"/>
          <p:cNvSpPr/>
          <p:nvPr/>
        </p:nvSpPr>
        <p:spPr>
          <a:xfrm>
            <a:off x="822960" y="3840480"/>
            <a:ext cx="108720" cy="959040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4" name="Text 22"/>
          <p:cNvSpPr/>
          <p:nvPr/>
        </p:nvSpPr>
        <p:spPr>
          <a:xfrm>
            <a:off x="1051560" y="3996000"/>
            <a:ext cx="2925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Solicitação ≠ Reclamação oficial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23"/>
          <p:cNvSpPr/>
          <p:nvPr/>
        </p:nvSpPr>
        <p:spPr>
          <a:xfrm>
            <a:off x="1051560" y="4279320"/>
            <a:ext cx="292500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Antes da Gestão consumir a mensagem padronizada, ainda estamos no fluxo de entrada e preparação.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24"/>
          <p:cNvSpPr/>
          <p:nvPr/>
        </p:nvSpPr>
        <p:spPr>
          <a:xfrm>
            <a:off x="4480560" y="3840480"/>
            <a:ext cx="3245040" cy="9590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16a34a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7" name="Shape 25"/>
          <p:cNvSpPr/>
          <p:nvPr/>
        </p:nvSpPr>
        <p:spPr>
          <a:xfrm>
            <a:off x="4480560" y="3840480"/>
            <a:ext cx="108720" cy="95904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88" name="Text 26"/>
          <p:cNvSpPr/>
          <p:nvPr/>
        </p:nvSpPr>
        <p:spPr>
          <a:xfrm>
            <a:off x="4709160" y="3996000"/>
            <a:ext cx="2925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6a34a"/>
                </a:solidFill>
                <a:effectLst/>
                <a:uFillTx/>
                <a:latin typeface="Aptos"/>
              </a:rPr>
              <a:t>Assíncrono onde faz sentido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27"/>
          <p:cNvSpPr/>
          <p:nvPr/>
        </p:nvSpPr>
        <p:spPr>
          <a:xfrm>
            <a:off x="4709160" y="4279320"/>
            <a:ext cx="292500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OCR, integrações e analytics não bloqueiam a entrada do cliente.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28"/>
          <p:cNvSpPr/>
          <p:nvPr/>
        </p:nvSpPr>
        <p:spPr>
          <a:xfrm>
            <a:off x="8138160" y="3840480"/>
            <a:ext cx="3245040" cy="9590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3970">
            <a:solidFill>
              <a:srgbClr val="ec70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1" name="Shape 29"/>
          <p:cNvSpPr/>
          <p:nvPr/>
        </p:nvSpPr>
        <p:spPr>
          <a:xfrm>
            <a:off x="8138160" y="3840480"/>
            <a:ext cx="108720" cy="959040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2" name="Text 30"/>
          <p:cNvSpPr/>
          <p:nvPr/>
        </p:nvSpPr>
        <p:spPr>
          <a:xfrm>
            <a:off x="8366760" y="3996000"/>
            <a:ext cx="2925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Domínio preservado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31"/>
          <p:cNvSpPr/>
          <p:nvPr/>
        </p:nvSpPr>
        <p:spPr>
          <a:xfrm>
            <a:off x="8366760" y="4279320"/>
            <a:ext cx="2925000" cy="428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A Gestão recebe uma Solicitação Padronizada e concentra regras de negócio.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PlaceHolder 1"/>
          <p:cNvSpPr>
            <a:spLocks noGrp="1"/>
          </p:cNvSpPr>
          <p:nvPr>
            <p:ph type="sldNum" idx="7"/>
          </p:nvPr>
        </p:nvSpPr>
        <p:spPr>
          <a:xfrm>
            <a:off x="11292840" y="6592680"/>
            <a:ext cx="798840" cy="2988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rPr>
              <a:t>8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Rectangle 33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196" name="Rectangle 34"/>
          <p:cNvSpPr/>
          <p:nvPr/>
        </p:nvSpPr>
        <p:spPr>
          <a:xfrm>
            <a:off x="0" y="6807600"/>
            <a:ext cx="12190680" cy="493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Shape 0"/>
          <p:cNvSpPr/>
          <p:nvPr/>
        </p:nvSpPr>
        <p:spPr>
          <a:xfrm>
            <a:off x="502920" y="201240"/>
            <a:ext cx="410400" cy="291600"/>
          </a:xfrm>
          <a:prstGeom prst="roundRect">
            <a:avLst>
              <a:gd name="adj" fmla="val 21875"/>
            </a:avLst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98" name="Text 1"/>
          <p:cNvSpPr/>
          <p:nvPr/>
        </p:nvSpPr>
        <p:spPr>
          <a:xfrm>
            <a:off x="502920" y="246960"/>
            <a:ext cx="4104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2"/>
          <p:cNvSpPr/>
          <p:nvPr/>
        </p:nvSpPr>
        <p:spPr>
          <a:xfrm>
            <a:off x="987480" y="228600"/>
            <a:ext cx="10240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Arquitetura AWS — visão-alvo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3"/>
          <p:cNvSpPr/>
          <p:nvPr/>
        </p:nvSpPr>
        <p:spPr>
          <a:xfrm>
            <a:off x="530280" y="658440"/>
            <a:ext cx="10971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A arquitetura AWS detalha como as capacidades do MVP se conectam: canais, entrada, OCR, gestão, SLA, integrações e analytics.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1" name="Image 0" descr="/mnt/data/arquitetura-gestao-reclamacoes-aws - backup.drawio(2).png"/>
          <p:cNvPicPr/>
          <p:nvPr/>
        </p:nvPicPr>
        <p:blipFill>
          <a:blip r:embed="rId1"/>
          <a:stretch/>
        </p:blipFill>
        <p:spPr>
          <a:xfrm>
            <a:off x="502920" y="987480"/>
            <a:ext cx="11246040" cy="528408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</p:pic>
      <p:sp>
        <p:nvSpPr>
          <p:cNvPr id="202" name="PlaceHolder 1"/>
          <p:cNvSpPr>
            <a:spLocks noGrp="1"/>
          </p:cNvSpPr>
          <p:nvPr>
            <p:ph type="sldNum" idx="8"/>
          </p:nvPr>
        </p:nvSpPr>
        <p:spPr>
          <a:xfrm>
            <a:off x="11292840" y="6592680"/>
            <a:ext cx="798840" cy="2988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rPr>
              <a:t>9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Rectangle 25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04" name="Rectangle 26"/>
          <p:cNvSpPr/>
          <p:nvPr/>
        </p:nvSpPr>
        <p:spPr>
          <a:xfrm>
            <a:off x="0" y="6807600"/>
            <a:ext cx="12190680" cy="493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Shape 0"/>
          <p:cNvSpPr/>
          <p:nvPr/>
        </p:nvSpPr>
        <p:spPr>
          <a:xfrm>
            <a:off x="502920" y="201240"/>
            <a:ext cx="410400" cy="291600"/>
          </a:xfrm>
          <a:prstGeom prst="roundRect">
            <a:avLst>
              <a:gd name="adj" fmla="val 21875"/>
            </a:avLst>
          </a:prstGeom>
          <a:solidFill>
            <a:srgbClr val="ff8700"/>
          </a:solidFill>
          <a:ln w="12700">
            <a:solidFill>
              <a:srgbClr val="ff8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6" name="Text 1"/>
          <p:cNvSpPr/>
          <p:nvPr/>
        </p:nvSpPr>
        <p:spPr>
          <a:xfrm>
            <a:off x="502920" y="246960"/>
            <a:ext cx="4104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2"/>
          <p:cNvSpPr/>
          <p:nvPr/>
        </p:nvSpPr>
        <p:spPr>
          <a:xfrm>
            <a:off x="987480" y="228600"/>
            <a:ext cx="10240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Como a arquitetura evita gargalos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3"/>
          <p:cNvSpPr/>
          <p:nvPr/>
        </p:nvSpPr>
        <p:spPr>
          <a:xfrm>
            <a:off x="685800" y="1234440"/>
            <a:ext cx="3290760" cy="12333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16a34a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09" name="Shape 4"/>
          <p:cNvSpPr/>
          <p:nvPr/>
        </p:nvSpPr>
        <p:spPr>
          <a:xfrm>
            <a:off x="685800" y="1234440"/>
            <a:ext cx="108720" cy="12333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0" name="Text 5"/>
          <p:cNvSpPr/>
          <p:nvPr/>
        </p:nvSpPr>
        <p:spPr>
          <a:xfrm>
            <a:off x="914400" y="1389960"/>
            <a:ext cx="29707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6a34a"/>
                </a:solidFill>
                <a:effectLst/>
                <a:uFillTx/>
                <a:latin typeface="Aptos"/>
              </a:rPr>
              <a:t>Upload direto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6"/>
          <p:cNvSpPr/>
          <p:nvPr/>
        </p:nvSpPr>
        <p:spPr>
          <a:xfrm>
            <a:off x="914400" y="1673280"/>
            <a:ext cx="297072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Arquivos vão ao S3 via pre-signed URL; API/ECS não carregam binário.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7"/>
          <p:cNvSpPr/>
          <p:nvPr/>
        </p:nvSpPr>
        <p:spPr>
          <a:xfrm>
            <a:off x="4480560" y="1234440"/>
            <a:ext cx="3290760" cy="12333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ec70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3" name="Shape 8"/>
          <p:cNvSpPr/>
          <p:nvPr/>
        </p:nvSpPr>
        <p:spPr>
          <a:xfrm>
            <a:off x="4480560" y="1234440"/>
            <a:ext cx="108720" cy="1233360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4" name="Text 9"/>
          <p:cNvSpPr/>
          <p:nvPr/>
        </p:nvSpPr>
        <p:spPr>
          <a:xfrm>
            <a:off x="4709160" y="1389960"/>
            <a:ext cx="29707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OCR assíncrono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0"/>
          <p:cNvSpPr/>
          <p:nvPr/>
        </p:nvSpPr>
        <p:spPr>
          <a:xfrm>
            <a:off x="4709160" y="1673280"/>
            <a:ext cx="297072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S3 aciona Lambda; resultado vai para SQS e é consumido depois.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1"/>
          <p:cNvSpPr/>
          <p:nvPr/>
        </p:nvSpPr>
        <p:spPr>
          <a:xfrm>
            <a:off x="8275320" y="1234440"/>
            <a:ext cx="3290760" cy="12333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db2777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7" name="Shape 12"/>
          <p:cNvSpPr/>
          <p:nvPr/>
        </p:nvSpPr>
        <p:spPr>
          <a:xfrm>
            <a:off x="8275320" y="1234440"/>
            <a:ext cx="108720" cy="123336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18" name="Text 13"/>
          <p:cNvSpPr/>
          <p:nvPr/>
        </p:nvSpPr>
        <p:spPr>
          <a:xfrm>
            <a:off x="8503920" y="1389960"/>
            <a:ext cx="29707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db2777"/>
                </a:solidFill>
                <a:effectLst/>
                <a:uFillTx/>
                <a:latin typeface="Aptos"/>
              </a:rPr>
              <a:t>SQS entre contextos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4"/>
          <p:cNvSpPr/>
          <p:nvPr/>
        </p:nvSpPr>
        <p:spPr>
          <a:xfrm>
            <a:off x="8503920" y="1673280"/>
            <a:ext cx="297072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Entrada e Gestão ficam desacopladas e absorvem picos.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15"/>
          <p:cNvSpPr/>
          <p:nvPr/>
        </p:nvSpPr>
        <p:spPr>
          <a:xfrm>
            <a:off x="685800" y="3154680"/>
            <a:ext cx="3290760" cy="12333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ec70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1" name="Shape 16"/>
          <p:cNvSpPr/>
          <p:nvPr/>
        </p:nvSpPr>
        <p:spPr>
          <a:xfrm>
            <a:off x="685800" y="3154680"/>
            <a:ext cx="108720" cy="1233360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2" name="Text 17"/>
          <p:cNvSpPr/>
          <p:nvPr/>
        </p:nvSpPr>
        <p:spPr>
          <a:xfrm>
            <a:off x="914400" y="3310200"/>
            <a:ext cx="29707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Escala por backlog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18"/>
          <p:cNvSpPr/>
          <p:nvPr/>
        </p:nvSpPr>
        <p:spPr>
          <a:xfrm>
            <a:off x="914400" y="3593520"/>
            <a:ext cx="297072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Consumers ECS podem escalar conforme idade/tamanho da fila.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Shape 19"/>
          <p:cNvSpPr/>
          <p:nvPr/>
        </p:nvSpPr>
        <p:spPr>
          <a:xfrm>
            <a:off x="4480560" y="3154680"/>
            <a:ext cx="3290760" cy="12333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ec70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5" name="Shape 20"/>
          <p:cNvSpPr/>
          <p:nvPr/>
        </p:nvSpPr>
        <p:spPr>
          <a:xfrm>
            <a:off x="4480560" y="3154680"/>
            <a:ext cx="108720" cy="1233360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6" name="Text 21"/>
          <p:cNvSpPr/>
          <p:nvPr/>
        </p:nvSpPr>
        <p:spPr>
          <a:xfrm>
            <a:off x="4709160" y="3310200"/>
            <a:ext cx="29707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OLTP protegido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22"/>
          <p:cNvSpPr/>
          <p:nvPr/>
        </p:nvSpPr>
        <p:spPr>
          <a:xfrm>
            <a:off x="4709160" y="3593520"/>
            <a:ext cx="297072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Aurora fica para o agregado Reclamação; analytics sai por export.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Shape 23"/>
          <p:cNvSpPr/>
          <p:nvPr/>
        </p:nvSpPr>
        <p:spPr>
          <a:xfrm>
            <a:off x="8275320" y="3154680"/>
            <a:ext cx="3290760" cy="12333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3970">
            <a:solidFill>
              <a:srgbClr val="ff87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29" name="Shape 24"/>
          <p:cNvSpPr/>
          <p:nvPr/>
        </p:nvSpPr>
        <p:spPr>
          <a:xfrm>
            <a:off x="8275320" y="3154680"/>
            <a:ext cx="108720" cy="1233360"/>
          </a:xfrm>
          <a:prstGeom prst="rect">
            <a:avLst/>
          </a:prstGeom>
          <a:solidFill>
            <a:srgbClr val="ff8700"/>
          </a:solidFill>
          <a:ln w="12700">
            <a:solidFill>
              <a:srgbClr val="ff8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0" name="Text 25"/>
          <p:cNvSpPr/>
          <p:nvPr/>
        </p:nvSpPr>
        <p:spPr>
          <a:xfrm>
            <a:off x="8503920" y="3310200"/>
            <a:ext cx="297072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ff8700"/>
                </a:solidFill>
                <a:effectLst/>
                <a:uFillTx/>
                <a:latin typeface="Aptos"/>
              </a:rPr>
              <a:t>Cache auxiliar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 26"/>
          <p:cNvSpPr/>
          <p:nvPr/>
        </p:nvSpPr>
        <p:spPr>
          <a:xfrm>
            <a:off x="8503920" y="3593520"/>
            <a:ext cx="2970720" cy="70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Redis reduz latência em cliente/histórico, sem virar fonte de verdade.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2" name="Text 27"/>
          <p:cNvSpPr/>
          <p:nvPr/>
        </p:nvSpPr>
        <p:spPr>
          <a:xfrm>
            <a:off x="777240" y="5577840"/>
            <a:ext cx="1069740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2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Princípio: fluxo síncrono deve confirmar entrada; processamento pesado deve ser desacoplado.</a:t>
            </a:r>
            <a:endParaRPr lang="pt-BR" sz="12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1"/>
          <p:cNvSpPr>
            <a:spLocks noGrp="1"/>
          </p:cNvSpPr>
          <p:nvPr>
            <p:ph type="sldNum" idx="9"/>
          </p:nvPr>
        </p:nvSpPr>
        <p:spPr>
          <a:xfrm>
            <a:off x="11292840" y="6592680"/>
            <a:ext cx="798840" cy="2988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rPr>
              <a:t>10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Rectangle 29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35" name="Rectangle 30"/>
          <p:cNvSpPr/>
          <p:nvPr/>
        </p:nvSpPr>
        <p:spPr>
          <a:xfrm>
            <a:off x="0" y="6807600"/>
            <a:ext cx="12190680" cy="493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Shape 0"/>
          <p:cNvSpPr/>
          <p:nvPr/>
        </p:nvSpPr>
        <p:spPr>
          <a:xfrm>
            <a:off x="502920" y="201240"/>
            <a:ext cx="410400" cy="291600"/>
          </a:xfrm>
          <a:prstGeom prst="roundRect">
            <a:avLst>
              <a:gd name="adj" fmla="val 21875"/>
            </a:avLst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37" name="Text 1"/>
          <p:cNvSpPr/>
          <p:nvPr/>
        </p:nvSpPr>
        <p:spPr>
          <a:xfrm>
            <a:off x="502920" y="246960"/>
            <a:ext cx="4104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7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 2"/>
          <p:cNvSpPr/>
          <p:nvPr/>
        </p:nvSpPr>
        <p:spPr>
          <a:xfrm>
            <a:off x="987480" y="228600"/>
            <a:ext cx="10240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Monitoramento, erros e alertas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Shape 3"/>
          <p:cNvSpPr/>
          <p:nvPr/>
        </p:nvSpPr>
        <p:spPr>
          <a:xfrm>
            <a:off x="685800" y="1051560"/>
            <a:ext cx="3565080" cy="406800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3970">
            <a:solidFill>
              <a:srgbClr val="ec70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0" name="Shape 4"/>
          <p:cNvSpPr/>
          <p:nvPr/>
        </p:nvSpPr>
        <p:spPr>
          <a:xfrm>
            <a:off x="685800" y="1051560"/>
            <a:ext cx="108720" cy="4068000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1" name="Text 5"/>
          <p:cNvSpPr/>
          <p:nvPr/>
        </p:nvSpPr>
        <p:spPr>
          <a:xfrm>
            <a:off x="914400" y="1207080"/>
            <a:ext cx="32450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Métricas de fluxo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 6"/>
          <p:cNvSpPr/>
          <p:nvPr/>
        </p:nvSpPr>
        <p:spPr>
          <a:xfrm>
            <a:off x="914400" y="1490400"/>
            <a:ext cx="3245040" cy="35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latência das APIs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backlog SQS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idade da mensagem mais antiga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taxa de DLQ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tempo de OCR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falhas de integração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baixa confiança na classificação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Shape 7"/>
          <p:cNvSpPr/>
          <p:nvPr/>
        </p:nvSpPr>
        <p:spPr>
          <a:xfrm>
            <a:off x="4526280" y="1051560"/>
            <a:ext cx="3382200" cy="406800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3970">
            <a:solidFill>
              <a:srgbClr val="dc2626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4" name="Shape 8"/>
          <p:cNvSpPr/>
          <p:nvPr/>
        </p:nvSpPr>
        <p:spPr>
          <a:xfrm>
            <a:off x="4526280" y="1051560"/>
            <a:ext cx="108720" cy="4068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5" name="Text 9"/>
          <p:cNvSpPr/>
          <p:nvPr/>
        </p:nvSpPr>
        <p:spPr>
          <a:xfrm>
            <a:off x="4754880" y="1207080"/>
            <a:ext cx="3062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dc2626"/>
                </a:solidFill>
                <a:effectLst/>
                <a:uFillTx/>
                <a:latin typeface="Aptos"/>
              </a:rPr>
              <a:t>Alertas operacionais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 10"/>
          <p:cNvSpPr/>
          <p:nvPr/>
        </p:nvSpPr>
        <p:spPr>
          <a:xfrm>
            <a:off x="4754880" y="1490400"/>
            <a:ext cx="3062160" cy="35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DLQ com mensagens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OCR falhando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consumer atrasado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SLA próximo/vencido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integração indisponível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erro 5xx na API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saturação ECS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11"/>
          <p:cNvSpPr/>
          <p:nvPr/>
        </p:nvSpPr>
        <p:spPr>
          <a:xfrm>
            <a:off x="8183880" y="1051560"/>
            <a:ext cx="3245040" cy="406800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3970">
            <a:solidFill>
              <a:srgbClr val="ec70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8" name="Shape 12"/>
          <p:cNvSpPr/>
          <p:nvPr/>
        </p:nvSpPr>
        <p:spPr>
          <a:xfrm>
            <a:off x="8183880" y="1051560"/>
            <a:ext cx="108720" cy="4068000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49" name="Text 13"/>
          <p:cNvSpPr/>
          <p:nvPr/>
        </p:nvSpPr>
        <p:spPr>
          <a:xfrm>
            <a:off x="8412480" y="1207080"/>
            <a:ext cx="29250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Rastreabilidade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14"/>
          <p:cNvSpPr/>
          <p:nvPr/>
        </p:nvSpPr>
        <p:spPr>
          <a:xfrm>
            <a:off x="8412480" y="1490400"/>
            <a:ext cx="2925000" cy="3537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correlationId ponta a ponta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logs estruturados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protocolo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solicitacaoId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clienteId mascarado quando aplicável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auditoria de eventos relevantes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1" name="Text 15"/>
          <p:cNvSpPr/>
          <p:nvPr/>
        </p:nvSpPr>
        <p:spPr>
          <a:xfrm>
            <a:off x="868680" y="5623560"/>
            <a:ext cx="1042308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5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Ferramentas: Datadog</a:t>
            </a:r>
            <a:endParaRPr lang="pt-BR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PlaceHolder 1"/>
          <p:cNvSpPr>
            <a:spLocks noGrp="1"/>
          </p:cNvSpPr>
          <p:nvPr>
            <p:ph type="sldNum" idx="10"/>
          </p:nvPr>
        </p:nvSpPr>
        <p:spPr>
          <a:xfrm>
            <a:off x="11292840" y="6592680"/>
            <a:ext cx="798840" cy="2988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rPr>
              <a:t>11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Rectangle 25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4" name="Rectangle 26"/>
          <p:cNvSpPr/>
          <p:nvPr/>
        </p:nvSpPr>
        <p:spPr>
          <a:xfrm>
            <a:off x="0" y="6807600"/>
            <a:ext cx="12190680" cy="493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Text 1"/>
          <p:cNvSpPr/>
          <p:nvPr/>
        </p:nvSpPr>
        <p:spPr>
          <a:xfrm>
            <a:off x="502920" y="246960"/>
            <a:ext cx="4104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8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6" name="Text 2"/>
          <p:cNvSpPr/>
          <p:nvPr/>
        </p:nvSpPr>
        <p:spPr>
          <a:xfrm>
            <a:off x="987480" y="228600"/>
            <a:ext cx="10240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Classificação automática — estratégia do algoritmo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7" name="PlaceHolder 1"/>
          <p:cNvSpPr>
            <a:spLocks noGrp="1"/>
          </p:cNvSpPr>
          <p:nvPr>
            <p:ph type="sldNum" idx="11"/>
          </p:nvPr>
        </p:nvSpPr>
        <p:spPr>
          <a:xfrm>
            <a:off x="11292840" y="6592680"/>
            <a:ext cx="798840" cy="2988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rPr>
              <a:t>12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Rectangle 42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59" name="Rectangle 43"/>
          <p:cNvSpPr/>
          <p:nvPr/>
        </p:nvSpPr>
        <p:spPr>
          <a:xfrm>
            <a:off x="0" y="6807600"/>
            <a:ext cx="12190680" cy="493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60" name="Rounded Rectangle 294"/>
          <p:cNvSpPr/>
          <p:nvPr/>
        </p:nvSpPr>
        <p:spPr>
          <a:xfrm>
            <a:off x="502920" y="685800"/>
            <a:ext cx="10058040" cy="685440"/>
          </a:xfrm>
          <a:prstGeom prst="roundRect">
            <a:avLst>
              <a:gd name="adj" fmla="val 16667"/>
            </a:avLst>
          </a:prstGeom>
          <a:solidFill>
            <a:srgbClr val="fff3e8"/>
          </a:solidFill>
          <a:ln w="16510">
            <a:solidFill>
              <a:srgbClr val="e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rIns="127080" tIns="101520" bIns="7632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5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Motivador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112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Classificar texto livre sem ML obrigatório, mantendo decisão rápida, auditável e explicável.</a:t>
            </a:r>
            <a:endParaRPr lang="pt-BR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112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Resultado do domínio: categoria principal, candidatas, confiança, justificativas e revisão manual quando necessário.</a:t>
            </a:r>
            <a:endParaRPr lang="pt-BR" sz="112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Box 295"/>
          <p:cNvSpPr/>
          <p:nvPr/>
        </p:nvSpPr>
        <p:spPr>
          <a:xfrm>
            <a:off x="594360" y="1600200"/>
            <a:ext cx="4754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255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7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1. montar(...) — pré-processamento das regras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2" name="Rounded Rectangle 296"/>
          <p:cNvSpPr/>
          <p:nvPr/>
        </p:nvSpPr>
        <p:spPr>
          <a:xfrm>
            <a:off x="594360" y="1920240"/>
            <a:ext cx="475452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10">
            <a:solidFill>
              <a:srgbClr val="e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rIns="127080" tIns="101520" bIns="7632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5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Trabalho pesado feito uma vez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107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• índice invertido: palavra → regras</a:t>
            </a:r>
            <a:endParaRPr lang="pt-BR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107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• Aho-Corasick: um scan para frases/literais</a:t>
            </a:r>
            <a:endParaRPr lang="pt-BR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107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• regras compostas separadas</a:t>
            </a:r>
            <a:endParaRPr lang="pt-BR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107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• sinônimos: variante → termo canônico</a:t>
            </a:r>
            <a:endParaRPr lang="pt-BR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297"/>
          <p:cNvSpPr/>
          <p:nvPr/>
        </p:nvSpPr>
        <p:spPr>
          <a:xfrm>
            <a:off x="5715000" y="1600200"/>
            <a:ext cx="47545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255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7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2. classificar(...) — pontuação e decisão</a:t>
            </a:r>
            <a:endParaRPr lang="pt-BR" sz="1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4" name="Rounded Rectangle 298"/>
          <p:cNvSpPr/>
          <p:nvPr/>
        </p:nvSpPr>
        <p:spPr>
          <a:xfrm>
            <a:off x="5715000" y="1920240"/>
            <a:ext cx="4754520" cy="1737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6510">
            <a:solidFill>
              <a:srgbClr val="e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rIns="127080" tIns="101520" bIns="7632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5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Execução por reclamação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107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• normaliza e tokeniza o texto</a:t>
            </a:r>
            <a:endParaRPr lang="pt-BR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107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• aplica sinônimos</a:t>
            </a:r>
            <a:endParaRPr lang="pt-BR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107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• soma pesos por categoria</a:t>
            </a:r>
            <a:endParaRPr lang="pt-BR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107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• registra justificativas</a:t>
            </a:r>
            <a:endParaRPr lang="pt-BR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107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• política define ranking, confiança, empates e revisão</a:t>
            </a:r>
            <a:endParaRPr lang="pt-BR" sz="10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5" name="Right Arrow 299"/>
          <p:cNvSpPr/>
          <p:nvPr/>
        </p:nvSpPr>
        <p:spPr>
          <a:xfrm>
            <a:off x="5349240" y="2633400"/>
            <a:ext cx="31968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66" name="TextBox 300"/>
          <p:cNvSpPr/>
          <p:nvPr/>
        </p:nvSpPr>
        <p:spPr>
          <a:xfrm>
            <a:off x="594360" y="3977640"/>
            <a:ext cx="1005804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50760" rIns="50760" tIns="25560" bIns="25560" anchor="t">
            <a:spAutoFit/>
          </a:bodyPr>
          <a:p>
            <a:pPr>
              <a:lnSpc>
                <a:spcPct val="100000"/>
              </a:lnSpc>
            </a:pPr>
            <a:r>
              <a:rPr lang="pt-BR" sz="1600" b="1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Estruturas usadas na classificação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7" name="Rounded Rectangle 301"/>
          <p:cNvSpPr/>
          <p:nvPr/>
        </p:nvSpPr>
        <p:spPr>
          <a:xfrm>
            <a:off x="1854360" y="4345920"/>
            <a:ext cx="1874160" cy="1234080"/>
          </a:xfrm>
          <a:prstGeom prst="roundRect">
            <a:avLst>
              <a:gd name="adj" fmla="val 16667"/>
            </a:avLst>
          </a:prstGeom>
          <a:solidFill>
            <a:srgbClr val="fff8f2"/>
          </a:solidFill>
          <a:ln w="16510">
            <a:solidFill>
              <a:srgbClr val="e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rIns="127080" tIns="101520" bIns="7632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Índice invertido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95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token → regras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95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ex.: cartao → CARTAO +10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8" name="Right Arrow 302"/>
          <p:cNvSpPr/>
          <p:nvPr/>
        </p:nvSpPr>
        <p:spPr>
          <a:xfrm>
            <a:off x="3756240" y="4848840"/>
            <a:ext cx="20088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69" name="Rounded Rectangle 303"/>
          <p:cNvSpPr/>
          <p:nvPr/>
        </p:nvSpPr>
        <p:spPr>
          <a:xfrm>
            <a:off x="3847680" y="4345920"/>
            <a:ext cx="1874160" cy="1234080"/>
          </a:xfrm>
          <a:prstGeom prst="roundRect">
            <a:avLst>
              <a:gd name="adj" fmla="val 16667"/>
            </a:avLst>
          </a:prstGeom>
          <a:solidFill>
            <a:srgbClr val="fff8f2"/>
          </a:solidFill>
          <a:ln w="16510">
            <a:solidFill>
              <a:srgbClr val="e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rIns="127080" tIns="101520" bIns="7632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Aho-Corasick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95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frases em 1 varredura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95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ex.: nao reconheco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Right Arrow 304"/>
          <p:cNvSpPr/>
          <p:nvPr/>
        </p:nvSpPr>
        <p:spPr>
          <a:xfrm>
            <a:off x="5749560" y="4848840"/>
            <a:ext cx="20088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71" name="Right Arrow 306"/>
          <p:cNvSpPr/>
          <p:nvPr/>
        </p:nvSpPr>
        <p:spPr>
          <a:xfrm>
            <a:off x="7834680" y="4862520"/>
            <a:ext cx="200880" cy="200880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272" name="Rounded Rectangle 307"/>
          <p:cNvSpPr/>
          <p:nvPr/>
        </p:nvSpPr>
        <p:spPr>
          <a:xfrm>
            <a:off x="5960520" y="4322520"/>
            <a:ext cx="1874160" cy="1234080"/>
          </a:xfrm>
          <a:prstGeom prst="roundRect">
            <a:avLst>
              <a:gd name="adj" fmla="val 16667"/>
            </a:avLst>
          </a:prstGeom>
          <a:solidFill>
            <a:srgbClr val="fff8f2"/>
          </a:solidFill>
          <a:ln w="16510">
            <a:solidFill>
              <a:srgbClr val="e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rIns="127080" tIns="101520" bIns="7632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Compostas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95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termos obrigatórios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95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ex.: nao reconheco + cartao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ounded Rectangle 309"/>
          <p:cNvSpPr/>
          <p:nvPr/>
        </p:nvSpPr>
        <p:spPr>
          <a:xfrm>
            <a:off x="8025840" y="4322520"/>
            <a:ext cx="1874160" cy="1234080"/>
          </a:xfrm>
          <a:prstGeom prst="roundRect">
            <a:avLst>
              <a:gd name="adj" fmla="val 16667"/>
            </a:avLst>
          </a:prstGeom>
          <a:solidFill>
            <a:srgbClr val="fff8f2"/>
          </a:solidFill>
          <a:ln w="16510">
            <a:solidFill>
              <a:srgbClr val="ec7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27080" rIns="127080" tIns="101520" bIns="76320" anchor="ctr">
            <a:noAutofit/>
          </a:bodyPr>
          <a:p>
            <a:pPr algn="ctr">
              <a:lnSpc>
                <a:spcPct val="100000"/>
              </a:lnSpc>
            </a:pPr>
            <a:r>
              <a:rPr lang="pt-BR" sz="12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Política final</a:t>
            </a:r>
            <a:endParaRPr lang="pt-BR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95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ranking, confiança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00000"/>
              </a:lnSpc>
              <a:spcAft>
                <a:spcPts val="99"/>
              </a:spcAft>
            </a:pPr>
            <a:r>
              <a:rPr lang="pt-BR" sz="950" b="0" u="none" strike="noStrike">
                <a:solidFill>
                  <a:srgbClr val="2f2f2f"/>
                </a:solidFill>
                <a:effectLst/>
                <a:uFillTx/>
                <a:latin typeface="Aptos"/>
              </a:rPr>
              <a:t>e revisão manual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1" descr="understanding_the_inverted_index_process.png"/>
          <p:cNvPicPr/>
          <p:nvPr/>
        </p:nvPicPr>
        <p:blipFill>
          <a:blip r:embed="rId1"/>
          <a:stretch/>
        </p:blipFill>
        <p:spPr>
          <a:xfrm>
            <a:off x="3240" y="0"/>
            <a:ext cx="1218528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Picture 1" descr="aho_corasick_para_busca_eficiente_de_padrões.png"/>
          <p:cNvPicPr/>
          <p:nvPr/>
        </p:nvPicPr>
        <p:blipFill>
          <a:blip r:embed="rId1"/>
          <a:stretch/>
        </p:blipFill>
        <p:spPr>
          <a:xfrm>
            <a:off x="3240" y="0"/>
            <a:ext cx="12185280" cy="68576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Shape 0"/>
          <p:cNvSpPr/>
          <p:nvPr/>
        </p:nvSpPr>
        <p:spPr>
          <a:xfrm>
            <a:off x="502920" y="201240"/>
            <a:ext cx="410400" cy="291600"/>
          </a:xfrm>
          <a:prstGeom prst="roundRect">
            <a:avLst>
              <a:gd name="adj" fmla="val 21875"/>
            </a:avLst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77" name="Text 1"/>
          <p:cNvSpPr/>
          <p:nvPr/>
        </p:nvSpPr>
        <p:spPr>
          <a:xfrm>
            <a:off x="502920" y="246960"/>
            <a:ext cx="4104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2"/>
          <p:cNvSpPr/>
          <p:nvPr/>
        </p:nvSpPr>
        <p:spPr>
          <a:xfrm>
            <a:off x="987480" y="228600"/>
            <a:ext cx="10240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Arquitetura de software recomendada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3"/>
          <p:cNvSpPr/>
          <p:nvPr/>
        </p:nvSpPr>
        <p:spPr>
          <a:xfrm>
            <a:off x="530280" y="658440"/>
            <a:ext cx="10971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0" u="none" strike="noStrike">
                <a:solidFill>
                  <a:srgbClr val="64748b"/>
                </a:solidFill>
                <a:effectLst/>
                <a:uFillTx/>
                <a:latin typeface="Aptos"/>
              </a:rPr>
              <a:t>Componente escolhido para detalhar: Gestão de Reclamações.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4"/>
          <p:cNvSpPr/>
          <p:nvPr/>
        </p:nvSpPr>
        <p:spPr>
          <a:xfrm>
            <a:off x="960120" y="1234440"/>
            <a:ext cx="2193480" cy="3382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3970">
            <a:solidFill>
              <a:srgbClr val="16a34a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1" name="Shape 5"/>
          <p:cNvSpPr/>
          <p:nvPr/>
        </p:nvSpPr>
        <p:spPr>
          <a:xfrm>
            <a:off x="960120" y="1234440"/>
            <a:ext cx="108720" cy="3382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2" name="Text 6"/>
          <p:cNvSpPr/>
          <p:nvPr/>
        </p:nvSpPr>
        <p:spPr>
          <a:xfrm>
            <a:off x="1188720" y="1389960"/>
            <a:ext cx="1873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6a34a"/>
                </a:solidFill>
                <a:effectLst/>
                <a:uFillTx/>
                <a:latin typeface="Aptos"/>
              </a:rPr>
              <a:t>Domain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7"/>
          <p:cNvSpPr/>
          <p:nvPr/>
        </p:nvSpPr>
        <p:spPr>
          <a:xfrm>
            <a:off x="1188720" y="1673280"/>
            <a:ext cx="1873440" cy="28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Agregado Reclamacao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Value Objects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Políticas de SLA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Classificador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8"/>
          <p:cNvSpPr/>
          <p:nvPr/>
        </p:nvSpPr>
        <p:spPr>
          <a:xfrm>
            <a:off x="3200400" y="2834640"/>
            <a:ext cx="274320" cy="360"/>
          </a:xfrm>
          <a:prstGeom prst="line">
            <a:avLst/>
          </a:prstGeom>
          <a:ln w="15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5" name="Shape 9"/>
          <p:cNvSpPr/>
          <p:nvPr/>
        </p:nvSpPr>
        <p:spPr>
          <a:xfrm>
            <a:off x="3611880" y="1234440"/>
            <a:ext cx="2193480" cy="3382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3970">
            <a:solidFill>
              <a:srgbClr val="ec70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6" name="Shape 10"/>
          <p:cNvSpPr/>
          <p:nvPr/>
        </p:nvSpPr>
        <p:spPr>
          <a:xfrm>
            <a:off x="3611880" y="1234440"/>
            <a:ext cx="108720" cy="3382200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87" name="Text 11"/>
          <p:cNvSpPr/>
          <p:nvPr/>
        </p:nvSpPr>
        <p:spPr>
          <a:xfrm>
            <a:off x="3840480" y="1389960"/>
            <a:ext cx="1873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Application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 12"/>
          <p:cNvSpPr/>
          <p:nvPr/>
        </p:nvSpPr>
        <p:spPr>
          <a:xfrm>
            <a:off x="3840480" y="1673280"/>
            <a:ext cx="1873440" cy="28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Use cases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Commands/Queries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Ports de entrada/saída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3"/>
          <p:cNvSpPr/>
          <p:nvPr/>
        </p:nvSpPr>
        <p:spPr>
          <a:xfrm>
            <a:off x="5852160" y="2834640"/>
            <a:ext cx="274320" cy="360"/>
          </a:xfrm>
          <a:prstGeom prst="line">
            <a:avLst/>
          </a:prstGeom>
          <a:ln w="15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0" name="Shape 14"/>
          <p:cNvSpPr/>
          <p:nvPr/>
        </p:nvSpPr>
        <p:spPr>
          <a:xfrm>
            <a:off x="6263640" y="1234440"/>
            <a:ext cx="2193480" cy="3382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3970">
            <a:solidFill>
              <a:srgbClr val="ec70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1" name="Shape 15"/>
          <p:cNvSpPr/>
          <p:nvPr/>
        </p:nvSpPr>
        <p:spPr>
          <a:xfrm>
            <a:off x="6263640" y="1234440"/>
            <a:ext cx="108720" cy="3382200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2" name="Text 16"/>
          <p:cNvSpPr/>
          <p:nvPr/>
        </p:nvSpPr>
        <p:spPr>
          <a:xfrm>
            <a:off x="6492240" y="1389960"/>
            <a:ext cx="1873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Infrastructure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 17"/>
          <p:cNvSpPr/>
          <p:nvPr/>
        </p:nvSpPr>
        <p:spPr>
          <a:xfrm>
            <a:off x="6492240" y="1673280"/>
            <a:ext cx="1873440" cy="28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PostgreSQL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SQS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Configuração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Observabilidade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Shape 18"/>
          <p:cNvSpPr/>
          <p:nvPr/>
        </p:nvSpPr>
        <p:spPr>
          <a:xfrm>
            <a:off x="8503920" y="2834640"/>
            <a:ext cx="274320" cy="360"/>
          </a:xfrm>
          <a:prstGeom prst="line">
            <a:avLst/>
          </a:prstGeom>
          <a:ln w="1524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>
            <a:noAutofit/>
          </a:bodyPr>
          <a:p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5" name="Shape 19"/>
          <p:cNvSpPr/>
          <p:nvPr/>
        </p:nvSpPr>
        <p:spPr>
          <a:xfrm>
            <a:off x="8915400" y="1234440"/>
            <a:ext cx="2193480" cy="338220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3970">
            <a:solidFill>
              <a:srgbClr val="ec70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6" name="Shape 20"/>
          <p:cNvSpPr/>
          <p:nvPr/>
        </p:nvSpPr>
        <p:spPr>
          <a:xfrm>
            <a:off x="8915400" y="1234440"/>
            <a:ext cx="108720" cy="3382200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297" name="Text 21"/>
          <p:cNvSpPr/>
          <p:nvPr/>
        </p:nvSpPr>
        <p:spPr>
          <a:xfrm>
            <a:off x="9144000" y="1389960"/>
            <a:ext cx="18734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Interfaces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2"/>
          <p:cNvSpPr/>
          <p:nvPr/>
        </p:nvSpPr>
        <p:spPr>
          <a:xfrm>
            <a:off x="9144000" y="1673280"/>
            <a:ext cx="1873440" cy="285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REST API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Consumer SQS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Job SLA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Endpoints dev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9" name="Shape 23"/>
          <p:cNvSpPr/>
          <p:nvPr/>
        </p:nvSpPr>
        <p:spPr>
          <a:xfrm>
            <a:off x="868680" y="5166360"/>
            <a:ext cx="10468800" cy="73044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 w="12700">
            <a:solidFill>
              <a:srgbClr val="6366f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0" name="Text 24"/>
          <p:cNvSpPr/>
          <p:nvPr/>
        </p:nvSpPr>
        <p:spPr>
          <a:xfrm>
            <a:off x="1051560" y="5422320"/>
            <a:ext cx="101030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8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Princípio: domínio independente de Spring, JPA, AWS, banco, filas ou frameworks. Infraestrutura implementa portas.</a:t>
            </a:r>
            <a:endParaRPr lang="pt-BR" sz="118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1" name="PlaceHolder 1"/>
          <p:cNvSpPr>
            <a:spLocks noGrp="1"/>
          </p:cNvSpPr>
          <p:nvPr>
            <p:ph type="sldNum" idx="12"/>
          </p:nvPr>
        </p:nvSpPr>
        <p:spPr>
          <a:xfrm>
            <a:off x="11292840" y="6592680"/>
            <a:ext cx="798840" cy="2988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rPr>
              <a:t>14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Rectangle 26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03" name="Rectangle 27"/>
          <p:cNvSpPr/>
          <p:nvPr/>
        </p:nvSpPr>
        <p:spPr>
          <a:xfrm>
            <a:off x="0" y="6807600"/>
            <a:ext cx="12190680" cy="493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Shape 0"/>
          <p:cNvSpPr/>
          <p:nvPr/>
        </p:nvSpPr>
        <p:spPr>
          <a:xfrm>
            <a:off x="502920" y="201240"/>
            <a:ext cx="410400" cy="291600"/>
          </a:xfrm>
          <a:prstGeom prst="roundRect">
            <a:avLst>
              <a:gd name="adj" fmla="val 21875"/>
            </a:avLst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5" name="Text 1"/>
          <p:cNvSpPr/>
          <p:nvPr/>
        </p:nvSpPr>
        <p:spPr>
          <a:xfrm>
            <a:off x="502920" y="246960"/>
            <a:ext cx="4104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11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Text 2"/>
          <p:cNvSpPr/>
          <p:nvPr/>
        </p:nvSpPr>
        <p:spPr>
          <a:xfrm>
            <a:off x="987480" y="228600"/>
            <a:ext cx="10240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Exemplo de estrutura de código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3"/>
          <p:cNvSpPr/>
          <p:nvPr/>
        </p:nvSpPr>
        <p:spPr>
          <a:xfrm>
            <a:off x="530280" y="658440"/>
            <a:ext cx="10971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400" b="0" u="none" strike="noStrike">
                <a:solidFill>
                  <a:srgbClr val="464646"/>
                </a:solidFill>
                <a:effectLst/>
                <a:uFillTx/>
                <a:latin typeface="Aptos"/>
              </a:rPr>
              <a:t>Estrutura sugerida para manter domínio, casos de uso e infraestrutura desacoplados e testáveis.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8" name="Shape 4"/>
          <p:cNvSpPr/>
          <p:nvPr/>
        </p:nvSpPr>
        <p:spPr>
          <a:xfrm>
            <a:off x="777240" y="1051560"/>
            <a:ext cx="4982400" cy="4753800"/>
          </a:xfrm>
          <a:prstGeom prst="roundRect">
            <a:avLst>
              <a:gd name="adj" fmla="val 1538"/>
            </a:avLst>
          </a:prstGeom>
          <a:solidFill>
            <a:srgbClr val="0f172a"/>
          </a:solidFill>
          <a:ln w="12700">
            <a:solidFill>
              <a:srgbClr val="0f172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09" name="Text 5"/>
          <p:cNvSpPr/>
          <p:nvPr/>
        </p:nvSpPr>
        <p:spPr>
          <a:xfrm>
            <a:off x="1051560" y="1353240"/>
            <a:ext cx="4433760" cy="40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360" rIns="360" tIns="360" bIns="36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gestao-reclamacoes/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domain/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  model/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  valueobject/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  service/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  policy/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  event/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application/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  command/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  usecase/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  port/input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  port/output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infrastructure/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  persistence/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  messaging/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  web/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  classification/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10" b="0" u="none" strike="noStrike">
                <a:solidFill>
                  <a:srgbClr val="e2e8f0"/>
                </a:solidFill>
                <a:effectLst/>
                <a:uFillTx/>
                <a:latin typeface="Aptos Mono"/>
                <a:ea typeface="Aptos Mono"/>
              </a:rPr>
              <a:t>    observability/</a:t>
            </a:r>
            <a:endParaRPr lang="pt-BR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Shape 6"/>
          <p:cNvSpPr/>
          <p:nvPr/>
        </p:nvSpPr>
        <p:spPr>
          <a:xfrm>
            <a:off x="6172200" y="1234440"/>
            <a:ext cx="5073840" cy="986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ec70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1" name="Shape 7"/>
          <p:cNvSpPr/>
          <p:nvPr/>
        </p:nvSpPr>
        <p:spPr>
          <a:xfrm>
            <a:off x="6172200" y="1234440"/>
            <a:ext cx="108720" cy="986400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2" name="Text 8"/>
          <p:cNvSpPr/>
          <p:nvPr/>
        </p:nvSpPr>
        <p:spPr>
          <a:xfrm>
            <a:off x="6400800" y="1389960"/>
            <a:ext cx="4753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Elementos principais da solução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 9"/>
          <p:cNvSpPr/>
          <p:nvPr/>
        </p:nvSpPr>
        <p:spPr>
          <a:xfrm>
            <a:off x="6400800" y="1673280"/>
            <a:ext cx="47538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fontScale="62500" lnSpcReduction="19999"/>
          </a:bodyPr>
          <a:p>
            <a:pPr defTabSz="914400">
              <a:lnSpc>
                <a:spcPct val="100000"/>
              </a:lnSpc>
            </a:pPr>
            <a:r>
              <a:rPr lang="pt-BR" sz="1100" b="0" u="none" strike="noStrike">
                <a:solidFill>
                  <a:srgbClr val="232323"/>
                </a:solidFill>
                <a:effectLst/>
                <a:uFillTx/>
                <a:latin typeface="Aptos"/>
              </a:rPr>
              <a:t>1. Agregado Reclamacao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00" b="0" u="none" strike="noStrike">
                <a:solidFill>
                  <a:srgbClr val="232323"/>
                </a:solidFill>
                <a:effectLst/>
                <a:uFillTx/>
                <a:latin typeface="Aptos"/>
              </a:rPr>
              <a:t>2. ProcessarSolicitacaoPadronizadaUseCase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00" b="0" u="none" strike="noStrike">
                <a:solidFill>
                  <a:srgbClr val="232323"/>
                </a:solidFill>
                <a:effectLst/>
                <a:uFillTx/>
                <a:latin typeface="Aptos"/>
              </a:rPr>
              <a:t>3. ClassificadorPorRegrasPonderadas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00" b="0" u="none" strike="noStrike">
                <a:solidFill>
                  <a:srgbClr val="232323"/>
                </a:solidFill>
                <a:effectLst/>
                <a:uFillTx/>
                <a:latin typeface="Aptos"/>
              </a:rPr>
              <a:t>4. Portas de persistência, mensageria e parametrização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100" b="0" u="none" strike="noStrike">
                <a:solidFill>
                  <a:srgbClr val="232323"/>
                </a:solidFill>
                <a:effectLst/>
                <a:uFillTx/>
                <a:latin typeface="Aptos"/>
              </a:rPr>
              <a:t>5. Testes de domínio e classificação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4" name="Shape 10"/>
          <p:cNvSpPr/>
          <p:nvPr/>
        </p:nvSpPr>
        <p:spPr>
          <a:xfrm>
            <a:off x="6172200" y="2514600"/>
            <a:ext cx="5073840" cy="986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dc2626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5" name="Shape 11"/>
          <p:cNvSpPr/>
          <p:nvPr/>
        </p:nvSpPr>
        <p:spPr>
          <a:xfrm>
            <a:off x="6172200" y="2514600"/>
            <a:ext cx="108720" cy="9864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6" name="Text 12"/>
          <p:cNvSpPr/>
          <p:nvPr/>
        </p:nvSpPr>
        <p:spPr>
          <a:xfrm>
            <a:off x="6400800" y="2670120"/>
            <a:ext cx="4753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</a:pPr>
            <a:r>
              <a:rPr lang="pt-BR" sz="13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Cuidados de implementação</a:t>
            </a:r>
            <a:endParaRPr lang="pt-B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 13"/>
          <p:cNvSpPr/>
          <p:nvPr/>
        </p:nvSpPr>
        <p:spPr>
          <a:xfrm>
            <a:off x="6400800" y="2953440"/>
            <a:ext cx="47538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 lnSpcReduction="9999"/>
          </a:bodyPr>
          <a:p>
            <a:pPr defTabSz="914400">
              <a:lnSpc>
                <a:spcPct val="100000"/>
              </a:lnSpc>
            </a:pPr>
            <a:r>
              <a:rPr lang="pt-BR" sz="1100" b="0" u="none" strike="noStrike">
                <a:solidFill>
                  <a:srgbClr val="232323"/>
                </a:solidFill>
                <a:effectLst/>
                <a:uFillTx/>
                <a:latin typeface="Aptos"/>
              </a:rPr>
              <a:t>Regras de negócio não devem ficar em controllers, consumers ou repositories. O domínio deve permanecer independente de frameworks e infraestrutura.</a:t>
            </a:r>
            <a:endParaRPr lang="pt-B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14"/>
          <p:cNvSpPr/>
          <p:nvPr/>
        </p:nvSpPr>
        <p:spPr>
          <a:xfrm>
            <a:off x="6172200" y="3794760"/>
            <a:ext cx="5073840" cy="98640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16a34a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19" name="Shape 15"/>
          <p:cNvSpPr/>
          <p:nvPr/>
        </p:nvSpPr>
        <p:spPr>
          <a:xfrm>
            <a:off x="6172200" y="3794760"/>
            <a:ext cx="108720" cy="9864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0" name="Text 16"/>
          <p:cNvSpPr/>
          <p:nvPr/>
        </p:nvSpPr>
        <p:spPr>
          <a:xfrm>
            <a:off x="6400800" y="3950280"/>
            <a:ext cx="475380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6a34a"/>
                </a:solidFill>
                <a:effectLst/>
                <a:uFillTx/>
                <a:latin typeface="Aptos"/>
              </a:rPr>
              <a:t>Mensagem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Text 17"/>
          <p:cNvSpPr/>
          <p:nvPr/>
        </p:nvSpPr>
        <p:spPr>
          <a:xfrm>
            <a:off x="6400800" y="4233600"/>
            <a:ext cx="475380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Controllers e consumers traduzem entrada; use cases coordenam; domínio protege invariantes; infraestrutura implementa portas.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PlaceHolder 1"/>
          <p:cNvSpPr>
            <a:spLocks noGrp="1"/>
          </p:cNvSpPr>
          <p:nvPr>
            <p:ph type="sldNum" idx="13"/>
          </p:nvPr>
        </p:nvSpPr>
        <p:spPr>
          <a:xfrm>
            <a:off x="11292840" y="6592680"/>
            <a:ext cx="798840" cy="2988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rPr>
              <a:t>15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Rectangle 25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24" name="Rectangle 26"/>
          <p:cNvSpPr/>
          <p:nvPr/>
        </p:nvSpPr>
        <p:spPr>
          <a:xfrm>
            <a:off x="0" y="6807600"/>
            <a:ext cx="12190680" cy="493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Shape 0"/>
          <p:cNvSpPr/>
          <p:nvPr/>
        </p:nvSpPr>
        <p:spPr>
          <a:xfrm>
            <a:off x="502920" y="201240"/>
            <a:ext cx="410400" cy="291600"/>
          </a:xfrm>
          <a:prstGeom prst="roundRect">
            <a:avLst>
              <a:gd name="adj" fmla="val 21875"/>
            </a:avLst>
          </a:prstGeom>
          <a:solidFill>
            <a:srgbClr val="ff8700"/>
          </a:solidFill>
          <a:ln w="12700">
            <a:solidFill>
              <a:srgbClr val="ff87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6" name="Text 1"/>
          <p:cNvSpPr/>
          <p:nvPr/>
        </p:nvSpPr>
        <p:spPr>
          <a:xfrm>
            <a:off x="502920" y="246960"/>
            <a:ext cx="4104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12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2"/>
          <p:cNvSpPr/>
          <p:nvPr/>
        </p:nvSpPr>
        <p:spPr>
          <a:xfrm>
            <a:off x="987480" y="228600"/>
            <a:ext cx="10240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Linguagens e bancos recomendados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8" name="Shape 3"/>
          <p:cNvSpPr/>
          <p:nvPr/>
        </p:nvSpPr>
        <p:spPr>
          <a:xfrm>
            <a:off x="685800" y="914400"/>
            <a:ext cx="10834560" cy="4936680"/>
          </a:xfrm>
          <a:prstGeom prst="roundRect">
            <a:avLst>
              <a:gd name="adj" fmla="val 1111"/>
            </a:avLst>
          </a:prstGeom>
          <a:solidFill>
            <a:srgbClr val="ffffff"/>
          </a:solidFill>
          <a:ln w="12700">
            <a:solidFill>
              <a:srgbClr val="cbd5e1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29" name="Text 4"/>
          <p:cNvSpPr/>
          <p:nvPr/>
        </p:nvSpPr>
        <p:spPr>
          <a:xfrm>
            <a:off x="914400" y="1078920"/>
            <a:ext cx="191916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Item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 5"/>
          <p:cNvSpPr/>
          <p:nvPr/>
        </p:nvSpPr>
        <p:spPr>
          <a:xfrm>
            <a:off x="2926080" y="1078920"/>
            <a:ext cx="34736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Escolha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 6"/>
          <p:cNvSpPr/>
          <p:nvPr/>
        </p:nvSpPr>
        <p:spPr>
          <a:xfrm>
            <a:off x="6537960" y="1078920"/>
            <a:ext cx="4388040" cy="181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5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Justificativa</a:t>
            </a:r>
            <a:endParaRPr lang="pt-BR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7"/>
          <p:cNvSpPr/>
          <p:nvPr/>
        </p:nvSpPr>
        <p:spPr>
          <a:xfrm>
            <a:off x="731520" y="1353240"/>
            <a:ext cx="10697400" cy="52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33" name="Text 8"/>
          <p:cNvSpPr/>
          <p:nvPr/>
        </p:nvSpPr>
        <p:spPr>
          <a:xfrm>
            <a:off x="914400" y="1417320"/>
            <a:ext cx="1827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Backend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9"/>
          <p:cNvSpPr/>
          <p:nvPr/>
        </p:nvSpPr>
        <p:spPr>
          <a:xfrm>
            <a:off x="2926080" y="141732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Java + Spring Boot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 10"/>
          <p:cNvSpPr/>
          <p:nvPr/>
        </p:nvSpPr>
        <p:spPr>
          <a:xfrm>
            <a:off x="6537960" y="1417320"/>
            <a:ext cx="4525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ecossistema, testes, mercado, robustez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 11"/>
          <p:cNvSpPr/>
          <p:nvPr/>
        </p:nvSpPr>
        <p:spPr>
          <a:xfrm>
            <a:off x="914400" y="1947600"/>
            <a:ext cx="1827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Entrada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 12"/>
          <p:cNvSpPr/>
          <p:nvPr/>
        </p:nvSpPr>
        <p:spPr>
          <a:xfrm>
            <a:off x="2926080" y="194760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ECS Fargate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 13"/>
          <p:cNvSpPr/>
          <p:nvPr/>
        </p:nvSpPr>
        <p:spPr>
          <a:xfrm>
            <a:off x="6537960" y="1947600"/>
            <a:ext cx="4525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APIs e workers com controle operacional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9" name="Shape 14"/>
          <p:cNvSpPr/>
          <p:nvPr/>
        </p:nvSpPr>
        <p:spPr>
          <a:xfrm>
            <a:off x="731520" y="2414160"/>
            <a:ext cx="10697400" cy="52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0" name="Text 15"/>
          <p:cNvSpPr/>
          <p:nvPr/>
        </p:nvSpPr>
        <p:spPr>
          <a:xfrm>
            <a:off x="914400" y="2477880"/>
            <a:ext cx="1827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Estado da entrada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1" name="Text 16"/>
          <p:cNvSpPr/>
          <p:nvPr/>
        </p:nvSpPr>
        <p:spPr>
          <a:xfrm>
            <a:off x="2926080" y="247788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DynamoDB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7"/>
          <p:cNvSpPr/>
          <p:nvPr/>
        </p:nvSpPr>
        <p:spPr>
          <a:xfrm>
            <a:off x="6537960" y="2477880"/>
            <a:ext cx="4525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baixa latência, status simples, idempotência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Text 18"/>
          <p:cNvSpPr/>
          <p:nvPr/>
        </p:nvSpPr>
        <p:spPr>
          <a:xfrm>
            <a:off x="914400" y="3008520"/>
            <a:ext cx="1827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Domínio principal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4" name="Text 19"/>
          <p:cNvSpPr/>
          <p:nvPr/>
        </p:nvSpPr>
        <p:spPr>
          <a:xfrm>
            <a:off x="2926080" y="300852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Aurora PostgreSQL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5" name="Text 20"/>
          <p:cNvSpPr/>
          <p:nvPr/>
        </p:nvSpPr>
        <p:spPr>
          <a:xfrm>
            <a:off x="6537960" y="3008520"/>
            <a:ext cx="4525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transações e consistência forte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Shape 21"/>
          <p:cNvSpPr/>
          <p:nvPr/>
        </p:nvSpPr>
        <p:spPr>
          <a:xfrm>
            <a:off x="731520" y="3474720"/>
            <a:ext cx="10697400" cy="52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47" name="Text 22"/>
          <p:cNvSpPr/>
          <p:nvPr/>
        </p:nvSpPr>
        <p:spPr>
          <a:xfrm>
            <a:off x="914400" y="3538800"/>
            <a:ext cx="1827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Anexos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8" name="Text 23"/>
          <p:cNvSpPr/>
          <p:nvPr/>
        </p:nvSpPr>
        <p:spPr>
          <a:xfrm>
            <a:off x="2926080" y="353880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S3 + pre-signed URL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 24"/>
          <p:cNvSpPr/>
          <p:nvPr/>
        </p:nvSpPr>
        <p:spPr>
          <a:xfrm>
            <a:off x="6537960" y="3538800"/>
            <a:ext cx="4525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objetos fora do banco e backend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25"/>
          <p:cNvSpPr/>
          <p:nvPr/>
        </p:nvSpPr>
        <p:spPr>
          <a:xfrm>
            <a:off x="914400" y="4069080"/>
            <a:ext cx="1827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Mensageria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1" name="Text 26"/>
          <p:cNvSpPr/>
          <p:nvPr/>
        </p:nvSpPr>
        <p:spPr>
          <a:xfrm>
            <a:off x="2926080" y="406908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SQS Standard + DLQ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27"/>
          <p:cNvSpPr/>
          <p:nvPr/>
        </p:nvSpPr>
        <p:spPr>
          <a:xfrm>
            <a:off x="6537960" y="4069080"/>
            <a:ext cx="4525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desacoplamento, retry, picos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Shape 28"/>
          <p:cNvSpPr/>
          <p:nvPr/>
        </p:nvSpPr>
        <p:spPr>
          <a:xfrm>
            <a:off x="731520" y="4535280"/>
            <a:ext cx="10697400" cy="5292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54" name="Text 29"/>
          <p:cNvSpPr/>
          <p:nvPr/>
        </p:nvSpPr>
        <p:spPr>
          <a:xfrm>
            <a:off x="914400" y="4599360"/>
            <a:ext cx="1827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OCR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 30"/>
          <p:cNvSpPr/>
          <p:nvPr/>
        </p:nvSpPr>
        <p:spPr>
          <a:xfrm>
            <a:off x="2926080" y="459936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Lambda/Tesseract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Text 31"/>
          <p:cNvSpPr/>
          <p:nvPr/>
        </p:nvSpPr>
        <p:spPr>
          <a:xfrm>
            <a:off x="6537960" y="4599360"/>
            <a:ext cx="4525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event-driven e assíncrono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7" name="Text 32"/>
          <p:cNvSpPr/>
          <p:nvPr/>
        </p:nvSpPr>
        <p:spPr>
          <a:xfrm>
            <a:off x="914400" y="5129640"/>
            <a:ext cx="182772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1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Analytics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 33"/>
          <p:cNvSpPr/>
          <p:nvPr/>
        </p:nvSpPr>
        <p:spPr>
          <a:xfrm>
            <a:off x="2926080" y="5129640"/>
            <a:ext cx="329076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S3 + Glue + Athena/QuickSight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34"/>
          <p:cNvSpPr/>
          <p:nvPr/>
        </p:nvSpPr>
        <p:spPr>
          <a:xfrm>
            <a:off x="6537960" y="5129640"/>
            <a:ext cx="452520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6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separa analítico do OLTP</a:t>
            </a:r>
            <a:endParaRPr lang="pt-BR" sz="86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0" name="PlaceHolder 1"/>
          <p:cNvSpPr>
            <a:spLocks noGrp="1"/>
          </p:cNvSpPr>
          <p:nvPr>
            <p:ph type="sldNum" idx="14"/>
          </p:nvPr>
        </p:nvSpPr>
        <p:spPr>
          <a:xfrm>
            <a:off x="11292840" y="6592680"/>
            <a:ext cx="798840" cy="2988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rPr>
              <a:t>16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Rectangle 36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62" name="Rectangle 37"/>
          <p:cNvSpPr/>
          <p:nvPr/>
        </p:nvSpPr>
        <p:spPr>
          <a:xfrm>
            <a:off x="0" y="6807600"/>
            <a:ext cx="12190680" cy="493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Shape 0"/>
          <p:cNvSpPr/>
          <p:nvPr/>
        </p:nvSpPr>
        <p:spPr>
          <a:xfrm>
            <a:off x="502920" y="201240"/>
            <a:ext cx="410400" cy="291600"/>
          </a:xfrm>
          <a:prstGeom prst="roundRect">
            <a:avLst>
              <a:gd name="adj" fmla="val 21875"/>
            </a:avLst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4" name="Text 1"/>
          <p:cNvSpPr/>
          <p:nvPr/>
        </p:nvSpPr>
        <p:spPr>
          <a:xfrm>
            <a:off x="502920" y="246960"/>
            <a:ext cx="4104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13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5" name="Text 2"/>
          <p:cNvSpPr/>
          <p:nvPr/>
        </p:nvSpPr>
        <p:spPr>
          <a:xfrm>
            <a:off x="987480" y="228600"/>
            <a:ext cx="10240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Como a IA pode acelerar o processo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Shape 3"/>
          <p:cNvSpPr/>
          <p:nvPr/>
        </p:nvSpPr>
        <p:spPr>
          <a:xfrm>
            <a:off x="777240" y="1143000"/>
            <a:ext cx="5165280" cy="429660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3970">
            <a:solidFill>
              <a:srgbClr val="ec70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7" name="Shape 4"/>
          <p:cNvSpPr/>
          <p:nvPr/>
        </p:nvSpPr>
        <p:spPr>
          <a:xfrm>
            <a:off x="777240" y="1143000"/>
            <a:ext cx="108720" cy="4296600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68" name="Text 5"/>
          <p:cNvSpPr/>
          <p:nvPr/>
        </p:nvSpPr>
        <p:spPr>
          <a:xfrm>
            <a:off x="1005840" y="1298520"/>
            <a:ext cx="4845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IA dentro do produto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 6"/>
          <p:cNvSpPr/>
          <p:nvPr/>
        </p:nvSpPr>
        <p:spPr>
          <a:xfrm>
            <a:off x="1005840" y="1581840"/>
            <a:ext cx="4845240" cy="37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apoio ao OCR/interpretação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sugestão de classificação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resumo da reclamação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extração de campos relevantes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detecção de criticidade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apoio à revisão manual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sugestão de resposta operacional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7"/>
          <p:cNvSpPr/>
          <p:nvPr/>
        </p:nvSpPr>
        <p:spPr>
          <a:xfrm>
            <a:off x="6263640" y="1143000"/>
            <a:ext cx="5165280" cy="4296600"/>
          </a:xfrm>
          <a:prstGeom prst="roundRect">
            <a:avLst>
              <a:gd name="adj" fmla="val 1915"/>
            </a:avLst>
          </a:prstGeom>
          <a:solidFill>
            <a:srgbClr val="ffffff"/>
          </a:solidFill>
          <a:ln w="13970">
            <a:solidFill>
              <a:srgbClr val="ec70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1" name="Shape 8"/>
          <p:cNvSpPr/>
          <p:nvPr/>
        </p:nvSpPr>
        <p:spPr>
          <a:xfrm>
            <a:off x="6263640" y="1143000"/>
            <a:ext cx="108720" cy="4296600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2" name="Text 9"/>
          <p:cNvSpPr/>
          <p:nvPr/>
        </p:nvSpPr>
        <p:spPr>
          <a:xfrm>
            <a:off x="6492240" y="1298520"/>
            <a:ext cx="484524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IA na engenharia da solução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10"/>
          <p:cNvSpPr/>
          <p:nvPr/>
        </p:nvSpPr>
        <p:spPr>
          <a:xfrm>
            <a:off x="6492240" y="1581840"/>
            <a:ext cx="4845240" cy="376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levantar premissas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gerar alternativas arquiteturais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questionar trade-offs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criar prompts de implementação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gerar documentação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quebrar histórias INVEST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sugerir testes e critérios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preparar apresentação e defesa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 11"/>
          <p:cNvSpPr/>
          <p:nvPr/>
        </p:nvSpPr>
        <p:spPr>
          <a:xfrm>
            <a:off x="914400" y="5650920"/>
            <a:ext cx="10285920" cy="29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3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Cuidado: IA acelera opções e execução, mas não substitui validação técnica, segurança, explicabilidade e responsabilidade de engenharia.</a:t>
            </a:r>
            <a:endParaRPr lang="pt-BR" sz="113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PlaceHolder 1"/>
          <p:cNvSpPr>
            <a:spLocks noGrp="1"/>
          </p:cNvSpPr>
          <p:nvPr>
            <p:ph type="sldNum" idx="15"/>
          </p:nvPr>
        </p:nvSpPr>
        <p:spPr>
          <a:xfrm>
            <a:off x="11292840" y="6592680"/>
            <a:ext cx="798840" cy="2988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rPr>
              <a:t>17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Rectangle 25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77" name="Rectangle 26"/>
          <p:cNvSpPr/>
          <p:nvPr/>
        </p:nvSpPr>
        <p:spPr>
          <a:xfrm>
            <a:off x="0" y="6807600"/>
            <a:ext cx="12190680" cy="493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0"/>
          <p:cNvSpPr/>
          <p:nvPr/>
        </p:nvSpPr>
        <p:spPr>
          <a:xfrm>
            <a:off x="502920" y="201240"/>
            <a:ext cx="410400" cy="291600"/>
          </a:xfrm>
          <a:prstGeom prst="roundRect">
            <a:avLst>
              <a:gd name="adj" fmla="val 21875"/>
            </a:avLst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79" name="Text 1"/>
          <p:cNvSpPr/>
          <p:nvPr/>
        </p:nvSpPr>
        <p:spPr>
          <a:xfrm>
            <a:off x="502920" y="246960"/>
            <a:ext cx="410400" cy="14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9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14</a:t>
            </a:r>
            <a:endParaRPr lang="pt-BR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"/>
          <p:cNvSpPr/>
          <p:nvPr/>
        </p:nvSpPr>
        <p:spPr>
          <a:xfrm>
            <a:off x="987480" y="228600"/>
            <a:ext cx="1024020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Qualidade, testes e colaboração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Shape 3"/>
          <p:cNvSpPr/>
          <p:nvPr/>
        </p:nvSpPr>
        <p:spPr>
          <a:xfrm>
            <a:off x="731520" y="1143000"/>
            <a:ext cx="3382200" cy="42508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3970">
            <a:solidFill>
              <a:srgbClr val="16a34a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2" name="Shape 4"/>
          <p:cNvSpPr/>
          <p:nvPr/>
        </p:nvSpPr>
        <p:spPr>
          <a:xfrm>
            <a:off x="731520" y="1143000"/>
            <a:ext cx="108720" cy="425088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3" name="Text 5"/>
          <p:cNvSpPr/>
          <p:nvPr/>
        </p:nvSpPr>
        <p:spPr>
          <a:xfrm>
            <a:off x="960120" y="1298520"/>
            <a:ext cx="3062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16a34a"/>
                </a:solidFill>
                <a:effectLst/>
                <a:uFillTx/>
                <a:latin typeface="Aptos"/>
              </a:rPr>
              <a:t>Qualidade técnica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 6"/>
          <p:cNvSpPr/>
          <p:nvPr/>
        </p:nvSpPr>
        <p:spPr>
          <a:xfrm>
            <a:off x="960120" y="1581840"/>
            <a:ext cx="3062160" cy="372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testes unitários AAA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cobertura &gt; 90%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testes mutantes &gt; 90%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BDD com Cucumber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integração local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performance tests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tratamento de erro e segurança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Shape 7"/>
          <p:cNvSpPr/>
          <p:nvPr/>
        </p:nvSpPr>
        <p:spPr>
          <a:xfrm>
            <a:off x="4434840" y="1143000"/>
            <a:ext cx="3382200" cy="42508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3970">
            <a:solidFill>
              <a:srgbClr val="ec70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6" name="Shape 8"/>
          <p:cNvSpPr/>
          <p:nvPr/>
        </p:nvSpPr>
        <p:spPr>
          <a:xfrm>
            <a:off x="4434840" y="1143000"/>
            <a:ext cx="108720" cy="4250880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87" name="Text 9"/>
          <p:cNvSpPr/>
          <p:nvPr/>
        </p:nvSpPr>
        <p:spPr>
          <a:xfrm>
            <a:off x="4663440" y="1298520"/>
            <a:ext cx="3062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Colaboração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Text 10"/>
          <p:cNvSpPr/>
          <p:nvPr/>
        </p:nvSpPr>
        <p:spPr>
          <a:xfrm>
            <a:off x="4663440" y="1581840"/>
            <a:ext cx="3062160" cy="372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documentação por componente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decisões e trade-offs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histórias INVEST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DOR e DOD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critérios de aceite testáveis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dependências explícitas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planejamento por fases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Shape 11"/>
          <p:cNvSpPr/>
          <p:nvPr/>
        </p:nvSpPr>
        <p:spPr>
          <a:xfrm>
            <a:off x="8138160" y="1143000"/>
            <a:ext cx="3382200" cy="4250880"/>
          </a:xfrm>
          <a:prstGeom prst="roundRect">
            <a:avLst>
              <a:gd name="adj" fmla="val 2432"/>
            </a:avLst>
          </a:prstGeom>
          <a:solidFill>
            <a:srgbClr val="ffffff"/>
          </a:solidFill>
          <a:ln w="13970">
            <a:solidFill>
              <a:srgbClr val="ec7000">
                <a:alpha val="85000"/>
              </a:srgbClr>
            </a:solidFill>
            <a:round/>
          </a:ln>
          <a:effectLst>
            <a:outerShdw algn="bl" blurRad="12600" dir="2700000" dist="49893" kx="0" ky="0" rotWithShape="0" sx="100000" sy="100000">
              <a:srgbClr val="d0d7e2">
                <a:alpha val="17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0" name="Shape 12"/>
          <p:cNvSpPr/>
          <p:nvPr/>
        </p:nvSpPr>
        <p:spPr>
          <a:xfrm>
            <a:off x="8138160" y="1143000"/>
            <a:ext cx="108720" cy="4250880"/>
          </a:xfrm>
          <a:prstGeom prst="rect">
            <a:avLst/>
          </a:prstGeom>
          <a:solidFill>
            <a:srgbClr val="ec7000"/>
          </a:solidFill>
          <a:ln w="12700">
            <a:solidFill>
              <a:srgbClr val="ec7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lang="pt-BR" sz="1800" b="0" u="none" strike="noStrik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91" name="Text 13"/>
          <p:cNvSpPr/>
          <p:nvPr/>
        </p:nvSpPr>
        <p:spPr>
          <a:xfrm>
            <a:off x="8366760" y="1298520"/>
            <a:ext cx="3062160" cy="20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5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Dev experience</a:t>
            </a:r>
            <a:endParaRPr lang="pt-BR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 14"/>
          <p:cNvSpPr/>
          <p:nvPr/>
        </p:nvSpPr>
        <p:spPr>
          <a:xfrm>
            <a:off x="8366760" y="1581840"/>
            <a:ext cx="3062160" cy="3720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docker-compose local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Prometheus/Grafana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Floci para AWS local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endpoints /dev para debug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scripts de demonstração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870" b="0" u="none" strike="noStrike">
                <a:solidFill>
                  <a:srgbClr val="334155"/>
                </a:solidFill>
                <a:effectLst/>
                <a:uFillTx/>
                <a:latin typeface="Aptos"/>
              </a:rPr>
              <a:t>• README orientado a execução</a:t>
            </a:r>
            <a:endParaRPr lang="pt-BR" sz="87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PlaceHolder 1"/>
          <p:cNvSpPr>
            <a:spLocks noGrp="1"/>
          </p:cNvSpPr>
          <p:nvPr>
            <p:ph type="sldNum" idx="16"/>
          </p:nvPr>
        </p:nvSpPr>
        <p:spPr>
          <a:xfrm>
            <a:off x="11292840" y="6592680"/>
            <a:ext cx="798840" cy="2988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rPr>
              <a:t>18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Rectangle 25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395" name="Rectangle 26"/>
          <p:cNvSpPr/>
          <p:nvPr/>
        </p:nvSpPr>
        <p:spPr>
          <a:xfrm>
            <a:off x="0" y="6807600"/>
            <a:ext cx="12190680" cy="493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8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Text 1"/>
          <p:cNvSpPr/>
          <p:nvPr/>
        </p:nvSpPr>
        <p:spPr>
          <a:xfrm>
            <a:off x="685800" y="822960"/>
            <a:ext cx="3656520" cy="45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182338"/>
                </a:solidFill>
                <a:effectLst/>
                <a:uFillTx/>
                <a:latin typeface="Aptos"/>
              </a:rPr>
              <a:t>Fechamento</a:t>
            </a:r>
            <a:endParaRPr lang="pt-B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5"/>
          <p:cNvSpPr/>
          <p:nvPr/>
        </p:nvSpPr>
        <p:spPr>
          <a:xfrm>
            <a:off x="4860000" y="3240000"/>
            <a:ext cx="377928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3000" b="1" u="none" strike="noStrike">
                <a:solidFill>
                  <a:srgbClr val="ec7000"/>
                </a:solidFill>
                <a:effectLst/>
                <a:uFillTx/>
                <a:latin typeface="Aptos"/>
              </a:rPr>
              <a:t>Obrigado</a:t>
            </a:r>
            <a:endParaRPr lang="pt-BR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1"/>
          <p:cNvSpPr>
            <a:spLocks noGrp="1"/>
          </p:cNvSpPr>
          <p:nvPr>
            <p:ph type="sldNum" idx="17"/>
          </p:nvPr>
        </p:nvSpPr>
        <p:spPr>
          <a:xfrm>
            <a:off x="11292840" y="6592680"/>
            <a:ext cx="798840" cy="298800"/>
          </a:xfrm>
          <a:prstGeom prst="rect">
            <a:avLst/>
          </a:prstGeom>
          <a:noFill/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r>
              <a:rPr lang="pt-BR" sz="800" b="0" u="none" strike="noStrike">
                <a:solidFill>
                  <a:srgbClr val="64748b"/>
                </a:solidFill>
                <a:effectLst/>
                <a:uFillTx/>
                <a:latin typeface="Arial"/>
                <a:ea typeface="Aptos"/>
              </a:rPr>
              <a:t>19</a:t>
            </a:r>
            <a:endParaRPr lang="pt-BR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Rectangle 25"/>
          <p:cNvSpPr/>
          <p:nvPr/>
        </p:nvSpPr>
        <p:spPr>
          <a:xfrm>
            <a:off x="0" y="0"/>
            <a:ext cx="12190680" cy="7200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8080" bIns="2808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  <p:sp>
        <p:nvSpPr>
          <p:cNvPr id="400" name="Rectangle 26"/>
          <p:cNvSpPr/>
          <p:nvPr/>
        </p:nvSpPr>
        <p:spPr>
          <a:xfrm>
            <a:off x="0" y="6807600"/>
            <a:ext cx="12190680" cy="49320"/>
          </a:xfrm>
          <a:prstGeom prst="rect">
            <a:avLst/>
          </a:prstGeom>
          <a:solidFill>
            <a:srgbClr val="ec7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400" bIns="5400" anchor="ctr">
            <a:noAutofit/>
          </a:bodyPr>
          <a:p>
            <a:pPr algn="ctr" defTabSz="914400">
              <a:lnSpc>
                <a:spcPct val="100000"/>
              </a:lnSpc>
            </a:pPr>
            <a:endParaRPr lang="pt-BR" sz="1800" b="0" u="none" strike="noStrike">
              <a:solidFill>
                <a:schemeClr val="lt1"/>
              </a:solidFill>
              <a:effectLst/>
              <a:uFillTx/>
              <a:latin typeface="Apto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Application>LibreOffice/25.8.5.2$Windows_X86_64 LibreOffice_project/9c8b85f387cc00a89945a79c9e6239f32e450ac2</Application>
  <AppVersion>15.0000</AppVersion>
  <Words>0</Words>
  <Paragraphs>0</Paragraphs>
  <Company>OpenAI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2026-05-10T16:27:41Z</dcterms:created>
  <dc:creator>OpenAI</dc:creator>
  <dc:description/>
  <dc:language>pt-BR</dc:language>
  <cp:lastModifiedBy/>
  <dcterms:modified xsi:type="dcterms:W3CDTF">2026-05-10T18:42:40Z</dcterms:modified>
  <cp:revision>10</cp:revision>
  <dc:subject>Case Gestão de Reclamações</dc:subject>
  <dc:title>Sistema de Gestão de Reclamações — Case Técnico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18</vt:i4>
  </property>
  <property fmtid="{D5CDD505-2E9C-101B-9397-08002B2CF9AE}" pid="3" name="PresentationFormat">
    <vt:lpwstr>On-screen Show (16:9)</vt:lpwstr>
  </property>
  <property fmtid="{D5CDD505-2E9C-101B-9397-08002B2CF9AE}" pid="4" name="Slides">
    <vt:i4>18</vt:i4>
  </property>
</Properties>
</file>